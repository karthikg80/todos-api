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67EEA"/>
          </a:solidFill>
          <a:ln/>
        </p:spPr>
      </p:sp>
      <p:sp>
        <p:nvSpPr>
          <p:cNvPr id="3" name="Text 1"/>
          <p:cNvSpPr/>
          <p:nvPr/>
        </p:nvSpPr>
        <p:spPr>
          <a:xfrm>
            <a:off x="731520" y="1097280"/>
            <a:ext cx="7680960" cy="914400"/>
          </a:xfrm>
          <a:prstGeom prst="rect">
            <a:avLst/>
          </a:prstGeom>
          <a:noFill/>
          <a:ln/>
        </p:spPr>
        <p:txBody>
          <a:bodyPr wrap="square" lIns="0" tIns="0" rIns="0" bIns="0" rtlCol="0" anchor="ctr"/>
          <a:lstStyle/>
          <a:p>
            <a:pPr indent="0" marL="0">
              <a:buNone/>
            </a:pPr>
            <a:r>
              <a:rPr lang="en-US" sz="4200" b="1" dirty="0">
                <a:solidFill>
                  <a:srgbClr val="FFFFFF"/>
                </a:solidFill>
                <a:latin typeface="Georgia" pitchFamily="34" charset="0"/>
                <a:ea typeface="Georgia" pitchFamily="34" charset="-122"/>
                <a:cs typeface="Georgia" pitchFamily="34" charset="-120"/>
              </a:rPr>
              <a:t>Strategic Gap Closure</a:t>
            </a:r>
            <a:endParaRPr lang="en-US" sz="4200" dirty="0"/>
          </a:p>
        </p:txBody>
      </p:sp>
      <p:sp>
        <p:nvSpPr>
          <p:cNvPr id="4" name="Text 2"/>
          <p:cNvSpPr/>
          <p:nvPr/>
        </p:nvSpPr>
        <p:spPr>
          <a:xfrm>
            <a:off x="731520" y="2011680"/>
            <a:ext cx="7680960" cy="45720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H1 → H2 → H3 — Full Execution Summary</a:t>
            </a:r>
            <a:endParaRPr lang="en-US" sz="2000" dirty="0"/>
          </a:p>
        </p:txBody>
      </p:sp>
      <p:sp>
        <p:nvSpPr>
          <p:cNvPr id="5" name="Text 3"/>
          <p:cNvSpPr/>
          <p:nvPr/>
        </p:nvSpPr>
        <p:spPr>
          <a:xfrm>
            <a:off x="731520" y="3108960"/>
            <a:ext cx="7680960" cy="36576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todos-api  •  March 2026</a:t>
            </a:r>
            <a:endParaRPr lang="en-US" sz="1400" dirty="0"/>
          </a:p>
        </p:txBody>
      </p:sp>
      <p:sp>
        <p:nvSpPr>
          <p:cNvPr id="6" name="Text 4"/>
          <p:cNvSpPr/>
          <p:nvPr/>
        </p:nvSpPr>
        <p:spPr>
          <a:xfrm>
            <a:off x="731520" y="3840480"/>
            <a:ext cx="1645920" cy="457200"/>
          </a:xfrm>
          <a:prstGeom prst="rect">
            <a:avLst/>
          </a:prstGeom>
          <a:noFill/>
          <a:ln/>
        </p:spPr>
        <p:txBody>
          <a:bodyPr wrap="square" lIns="0" tIns="0" rIns="0" bIns="0" rtlCol="0" anchor="ctr"/>
          <a:lstStyle/>
          <a:p>
            <a:pPr indent="0" marL="0">
              <a:buNone/>
            </a:pPr>
            <a:r>
              <a:rPr lang="en-US" sz="2800" b="1" dirty="0">
                <a:solidFill>
                  <a:srgbClr val="667EEA"/>
                </a:solidFill>
                <a:latin typeface="Consolas" pitchFamily="34" charset="0"/>
                <a:ea typeface="Consolas" pitchFamily="34" charset="-122"/>
                <a:cs typeface="Consolas" pitchFamily="34" charset="-120"/>
              </a:rPr>
              <a:t>6</a:t>
            </a:r>
            <a:endParaRPr lang="en-US" sz="2800" dirty="0"/>
          </a:p>
        </p:txBody>
      </p:sp>
      <p:sp>
        <p:nvSpPr>
          <p:cNvPr id="7" name="Text 5"/>
          <p:cNvSpPr/>
          <p:nvPr/>
        </p:nvSpPr>
        <p:spPr>
          <a:xfrm>
            <a:off x="731520" y="4297680"/>
            <a:ext cx="164592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PRs Merged</a:t>
            </a:r>
            <a:endParaRPr lang="en-US" sz="1100" dirty="0"/>
          </a:p>
        </p:txBody>
      </p:sp>
      <p:sp>
        <p:nvSpPr>
          <p:cNvPr id="8" name="Text 6"/>
          <p:cNvSpPr/>
          <p:nvPr/>
        </p:nvSpPr>
        <p:spPr>
          <a:xfrm>
            <a:off x="2743200" y="3840480"/>
            <a:ext cx="1645920" cy="457200"/>
          </a:xfrm>
          <a:prstGeom prst="rect">
            <a:avLst/>
          </a:prstGeom>
          <a:noFill/>
          <a:ln/>
        </p:spPr>
        <p:txBody>
          <a:bodyPr wrap="square" lIns="0" tIns="0" rIns="0" bIns="0" rtlCol="0" anchor="ctr"/>
          <a:lstStyle/>
          <a:p>
            <a:pPr indent="0" marL="0">
              <a:buNone/>
            </a:pPr>
            <a:r>
              <a:rPr lang="en-US" sz="2800" b="1" dirty="0">
                <a:solidFill>
                  <a:srgbClr val="667EEA"/>
                </a:solidFill>
                <a:latin typeface="Consolas" pitchFamily="34" charset="0"/>
                <a:ea typeface="Consolas" pitchFamily="34" charset="-122"/>
                <a:cs typeface="Consolas" pitchFamily="34" charset="-120"/>
              </a:rPr>
              <a:t>74</a:t>
            </a:r>
            <a:endParaRPr lang="en-US" sz="2800" dirty="0"/>
          </a:p>
        </p:txBody>
      </p:sp>
      <p:sp>
        <p:nvSpPr>
          <p:cNvPr id="9" name="Text 7"/>
          <p:cNvSpPr/>
          <p:nvPr/>
        </p:nvSpPr>
        <p:spPr>
          <a:xfrm>
            <a:off x="2743200" y="4297680"/>
            <a:ext cx="164592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Files Changed</a:t>
            </a:r>
            <a:endParaRPr lang="en-US" sz="1100" dirty="0"/>
          </a:p>
        </p:txBody>
      </p:sp>
      <p:sp>
        <p:nvSpPr>
          <p:cNvPr id="10" name="Text 8"/>
          <p:cNvSpPr/>
          <p:nvPr/>
        </p:nvSpPr>
        <p:spPr>
          <a:xfrm>
            <a:off x="4754880" y="3840480"/>
            <a:ext cx="1645920" cy="457200"/>
          </a:xfrm>
          <a:prstGeom prst="rect">
            <a:avLst/>
          </a:prstGeom>
          <a:noFill/>
          <a:ln/>
        </p:spPr>
        <p:txBody>
          <a:bodyPr wrap="square" lIns="0" tIns="0" rIns="0" bIns="0" rtlCol="0" anchor="ctr"/>
          <a:lstStyle/>
          <a:p>
            <a:pPr indent="0" marL="0">
              <a:buNone/>
            </a:pPr>
            <a:r>
              <a:rPr lang="en-US" sz="2800" b="1" dirty="0">
                <a:solidFill>
                  <a:srgbClr val="667EEA"/>
                </a:solidFill>
                <a:latin typeface="Consolas" pitchFamily="34" charset="0"/>
                <a:ea typeface="Consolas" pitchFamily="34" charset="-122"/>
                <a:cs typeface="Consolas" pitchFamily="34" charset="-120"/>
              </a:rPr>
              <a:t>+5,530</a:t>
            </a:r>
            <a:endParaRPr lang="en-US" sz="2800" dirty="0"/>
          </a:p>
        </p:txBody>
      </p:sp>
      <p:sp>
        <p:nvSpPr>
          <p:cNvPr id="11" name="Text 9"/>
          <p:cNvSpPr/>
          <p:nvPr/>
        </p:nvSpPr>
        <p:spPr>
          <a:xfrm>
            <a:off x="4754880" y="4297680"/>
            <a:ext cx="164592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Lines Added</a:t>
            </a:r>
            <a:endParaRPr lang="en-US" sz="1100" dirty="0"/>
          </a:p>
        </p:txBody>
      </p:sp>
      <p:sp>
        <p:nvSpPr>
          <p:cNvPr id="12" name="Text 10"/>
          <p:cNvSpPr/>
          <p:nvPr/>
        </p:nvSpPr>
        <p:spPr>
          <a:xfrm>
            <a:off x="6766560" y="3840480"/>
            <a:ext cx="1645920" cy="457200"/>
          </a:xfrm>
          <a:prstGeom prst="rect">
            <a:avLst/>
          </a:prstGeom>
          <a:noFill/>
          <a:ln/>
        </p:spPr>
        <p:txBody>
          <a:bodyPr wrap="square" lIns="0" tIns="0" rIns="0" bIns="0" rtlCol="0" anchor="ctr"/>
          <a:lstStyle/>
          <a:p>
            <a:pPr indent="0" marL="0">
              <a:buNone/>
            </a:pPr>
            <a:r>
              <a:rPr lang="en-US" sz="2800" b="1" dirty="0">
                <a:solidFill>
                  <a:srgbClr val="667EEA"/>
                </a:solidFill>
                <a:latin typeface="Consolas" pitchFamily="34" charset="0"/>
                <a:ea typeface="Consolas" pitchFamily="34" charset="-122"/>
                <a:cs typeface="Consolas" pitchFamily="34" charset="-120"/>
              </a:rPr>
              <a:t>0</a:t>
            </a:r>
            <a:endParaRPr lang="en-US" sz="2800" dirty="0"/>
          </a:p>
        </p:txBody>
      </p:sp>
      <p:sp>
        <p:nvSpPr>
          <p:cNvPr id="13" name="Text 11"/>
          <p:cNvSpPr/>
          <p:nvPr/>
        </p:nvSpPr>
        <p:spPr>
          <a:xfrm>
            <a:off x="6766560" y="4297680"/>
            <a:ext cx="164592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Test Failures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Strategic Context</a:t>
            </a:r>
            <a:endParaRPr lang="en-US" sz="2800" dirty="0"/>
          </a:p>
        </p:txBody>
      </p:sp>
      <p:sp>
        <p:nvSpPr>
          <p:cNvPr id="3" name="Text 1"/>
          <p:cNvSpPr/>
          <p:nvPr/>
        </p:nvSpPr>
        <p:spPr>
          <a:xfrm>
            <a:off x="548640" y="1005840"/>
            <a:ext cx="8046720" cy="64008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The strategic audit positioned this codebase at high-attractiveness / medium-strength in the GE-McKinsey 9-box. The winning move: close the gap from AI planning substrate to context-aware execution.</a:t>
            </a:r>
            <a:endParaRPr lang="en-US" sz="1300" dirty="0"/>
          </a:p>
        </p:txBody>
      </p:sp>
      <p:sp>
        <p:nvSpPr>
          <p:cNvPr id="4" name="Shape 2"/>
          <p:cNvSpPr/>
          <p:nvPr/>
        </p:nvSpPr>
        <p:spPr>
          <a:xfrm>
            <a:off x="548640" y="1828800"/>
            <a:ext cx="8046720" cy="530352"/>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5" name="Shape 3"/>
          <p:cNvSpPr/>
          <p:nvPr/>
        </p:nvSpPr>
        <p:spPr>
          <a:xfrm>
            <a:off x="548640" y="1828800"/>
            <a:ext cx="54864" cy="530352"/>
          </a:xfrm>
          <a:prstGeom prst="rect">
            <a:avLst/>
          </a:prstGeom>
          <a:solidFill>
            <a:srgbClr val="EF4444"/>
          </a:solidFill>
          <a:ln/>
        </p:spPr>
      </p:sp>
      <p:sp>
        <p:nvSpPr>
          <p:cNvPr id="6" name="Text 4"/>
          <p:cNvSpPr/>
          <p:nvPr/>
        </p:nvSpPr>
        <p:spPr>
          <a:xfrm>
            <a:off x="777240" y="1874520"/>
            <a:ext cx="640080" cy="201168"/>
          </a:xfrm>
          <a:prstGeom prst="rect">
            <a:avLst/>
          </a:prstGeom>
          <a:noFill/>
          <a:ln/>
        </p:spPr>
        <p:txBody>
          <a:bodyPr wrap="square" lIns="0" tIns="0" rIns="0" bIns="0" rtlCol="0" anchor="ctr"/>
          <a:lstStyle/>
          <a:p>
            <a:pPr indent="0" marL="0">
              <a:buNone/>
            </a:pPr>
            <a:r>
              <a:rPr lang="en-US" sz="900" dirty="0">
                <a:solidFill>
                  <a:srgbClr val="64748B"/>
                </a:solidFill>
                <a:latin typeface="Consolas" pitchFamily="34" charset="0"/>
                <a:ea typeface="Consolas" pitchFamily="34" charset="-122"/>
                <a:cs typeface="Consolas" pitchFamily="34" charset="-120"/>
              </a:rPr>
              <a:t>Gap 1</a:t>
            </a:r>
            <a:endParaRPr lang="en-US" sz="900" dirty="0"/>
          </a:p>
        </p:txBody>
      </p:sp>
      <p:sp>
        <p:nvSpPr>
          <p:cNvPr id="7" name="Text 5"/>
          <p:cNvSpPr/>
          <p:nvPr/>
        </p:nvSpPr>
        <p:spPr>
          <a:xfrm>
            <a:off x="777240" y="2075688"/>
            <a:ext cx="2011680" cy="201168"/>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Agentic Execution</a:t>
            </a:r>
            <a:endParaRPr lang="en-US" sz="1200" dirty="0"/>
          </a:p>
        </p:txBody>
      </p:sp>
      <p:sp>
        <p:nvSpPr>
          <p:cNvPr id="8" name="Text 6"/>
          <p:cNvSpPr/>
          <p:nvPr/>
        </p:nvSpPr>
        <p:spPr>
          <a:xfrm>
            <a:off x="3017520" y="1965960"/>
            <a:ext cx="2377440" cy="256032"/>
          </a:xfrm>
          <a:prstGeom prst="rect">
            <a:avLst/>
          </a:prstGeom>
          <a:noFill/>
          <a:ln/>
        </p:spPr>
        <p:txBody>
          <a:bodyPr wrap="square" lIns="0" tIns="0" rIns="0" bIns="0" rtlCol="0" anchor="ctr"/>
          <a:lstStyle/>
          <a:p>
            <a:pPr indent="0" marL="0">
              <a:buNone/>
            </a:pPr>
            <a:r>
              <a:rPr lang="en-US" sz="1100" dirty="0">
                <a:solidFill>
                  <a:srgbClr val="EF4444"/>
                </a:solidFill>
                <a:latin typeface="Calibri" pitchFamily="34" charset="0"/>
                <a:ea typeface="Calibri" pitchFamily="34" charset="-122"/>
                <a:cs typeface="Calibri" pitchFamily="34" charset="-120"/>
              </a:rPr>
              <a:t>3 safe-apply actions</a:t>
            </a:r>
            <a:endParaRPr lang="en-US" sz="1100" dirty="0"/>
          </a:p>
        </p:txBody>
      </p:sp>
      <p:sp>
        <p:nvSpPr>
          <p:cNvPr id="9" name="Text 7"/>
          <p:cNvSpPr/>
          <p:nvPr/>
        </p:nvSpPr>
        <p:spPr>
          <a:xfrm>
            <a:off x="5394960" y="1938528"/>
            <a:ext cx="274320" cy="310896"/>
          </a:xfrm>
          <a:prstGeom prst="rect">
            <a:avLst/>
          </a:prstGeom>
          <a:noFill/>
          <a:ln/>
        </p:spPr>
        <p:txBody>
          <a:bodyPr wrap="square" lIns="0" tIns="0" rIns="0" bIns="0"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10" name="Text 8"/>
          <p:cNvSpPr/>
          <p:nvPr/>
        </p:nvSpPr>
        <p:spPr>
          <a:xfrm>
            <a:off x="5760720" y="1965960"/>
            <a:ext cx="2743200" cy="256032"/>
          </a:xfrm>
          <a:prstGeom prst="rect">
            <a:avLst/>
          </a:prstGeom>
          <a:noFill/>
          <a:ln/>
        </p:spPr>
        <p:txBody>
          <a:bodyPr wrap="square" lIns="0" tIns="0" rIns="0" bIns="0" rtlCol="0" anchor="ctr"/>
          <a:lstStyle/>
          <a:p>
            <a:pPr indent="0" marL="0">
              <a:buNone/>
            </a:pPr>
            <a:r>
              <a:rPr lang="en-US" sz="1100" dirty="0">
                <a:solidFill>
                  <a:srgbClr val="10B981"/>
                </a:solidFill>
                <a:latin typeface="Calibri" pitchFamily="34" charset="0"/>
                <a:ea typeface="Calibri" pitchFamily="34" charset="-122"/>
                <a:cs typeface="Calibri" pitchFamily="34" charset="-120"/>
              </a:rPr>
              <a:t>14 jobs, reminders, interventions</a:t>
            </a:r>
            <a:endParaRPr lang="en-US" sz="1100" dirty="0"/>
          </a:p>
        </p:txBody>
      </p:sp>
      <p:sp>
        <p:nvSpPr>
          <p:cNvPr id="11" name="Shape 9"/>
          <p:cNvSpPr/>
          <p:nvPr/>
        </p:nvSpPr>
        <p:spPr>
          <a:xfrm>
            <a:off x="548640" y="2450592"/>
            <a:ext cx="8046720" cy="530352"/>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2" name="Shape 10"/>
          <p:cNvSpPr/>
          <p:nvPr/>
        </p:nvSpPr>
        <p:spPr>
          <a:xfrm>
            <a:off x="548640" y="2450592"/>
            <a:ext cx="54864" cy="530352"/>
          </a:xfrm>
          <a:prstGeom prst="rect">
            <a:avLst/>
          </a:prstGeom>
          <a:solidFill>
            <a:srgbClr val="F59E0B"/>
          </a:solidFill>
          <a:ln/>
        </p:spPr>
      </p:sp>
      <p:sp>
        <p:nvSpPr>
          <p:cNvPr id="13" name="Text 11"/>
          <p:cNvSpPr/>
          <p:nvPr/>
        </p:nvSpPr>
        <p:spPr>
          <a:xfrm>
            <a:off x="777240" y="2496312"/>
            <a:ext cx="640080" cy="201168"/>
          </a:xfrm>
          <a:prstGeom prst="rect">
            <a:avLst/>
          </a:prstGeom>
          <a:noFill/>
          <a:ln/>
        </p:spPr>
        <p:txBody>
          <a:bodyPr wrap="square" lIns="0" tIns="0" rIns="0" bIns="0" rtlCol="0" anchor="ctr"/>
          <a:lstStyle/>
          <a:p>
            <a:pPr indent="0" marL="0">
              <a:buNone/>
            </a:pPr>
            <a:r>
              <a:rPr lang="en-US" sz="900" dirty="0">
                <a:solidFill>
                  <a:srgbClr val="64748B"/>
                </a:solidFill>
                <a:latin typeface="Consolas" pitchFamily="34" charset="0"/>
                <a:ea typeface="Consolas" pitchFamily="34" charset="-122"/>
                <a:cs typeface="Consolas" pitchFamily="34" charset="-120"/>
              </a:rPr>
              <a:t>Gap 2</a:t>
            </a:r>
            <a:endParaRPr lang="en-US" sz="900" dirty="0"/>
          </a:p>
        </p:txBody>
      </p:sp>
      <p:sp>
        <p:nvSpPr>
          <p:cNvPr id="14" name="Text 12"/>
          <p:cNvSpPr/>
          <p:nvPr/>
        </p:nvSpPr>
        <p:spPr>
          <a:xfrm>
            <a:off x="777240" y="2697480"/>
            <a:ext cx="2011680" cy="201168"/>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Context Awareness</a:t>
            </a:r>
            <a:endParaRPr lang="en-US" sz="1200" dirty="0"/>
          </a:p>
        </p:txBody>
      </p:sp>
      <p:sp>
        <p:nvSpPr>
          <p:cNvPr id="15" name="Text 13"/>
          <p:cNvSpPr/>
          <p:nvPr/>
        </p:nvSpPr>
        <p:spPr>
          <a:xfrm>
            <a:off x="3017520" y="2587752"/>
            <a:ext cx="2377440" cy="256032"/>
          </a:xfrm>
          <a:prstGeom prst="rect">
            <a:avLst/>
          </a:prstGeom>
          <a:noFill/>
          <a:ln/>
        </p:spPr>
        <p:txBody>
          <a:bodyPr wrap="square" lIns="0" tIns="0" rIns="0" bIns="0" rtlCol="0" anchor="ctr"/>
          <a:lstStyle/>
          <a:p>
            <a:pPr indent="0" marL="0">
              <a:buNone/>
            </a:pPr>
            <a:r>
              <a:rPr lang="en-US" sz="1100" dirty="0">
                <a:solidFill>
                  <a:srgbClr val="EF4444"/>
                </a:solidFill>
                <a:latin typeface="Calibri" pitchFamily="34" charset="0"/>
                <a:ea typeface="Calibri" pitchFamily="34" charset="-122"/>
                <a:cs typeface="Calibri" pitchFamily="34" charset="-120"/>
              </a:rPr>
              <a:t>No event pipeline</a:t>
            </a:r>
            <a:endParaRPr lang="en-US" sz="1100" dirty="0"/>
          </a:p>
        </p:txBody>
      </p:sp>
      <p:sp>
        <p:nvSpPr>
          <p:cNvPr id="16" name="Text 14"/>
          <p:cNvSpPr/>
          <p:nvPr/>
        </p:nvSpPr>
        <p:spPr>
          <a:xfrm>
            <a:off x="5394960" y="2560320"/>
            <a:ext cx="274320" cy="310896"/>
          </a:xfrm>
          <a:prstGeom prst="rect">
            <a:avLst/>
          </a:prstGeom>
          <a:noFill/>
          <a:ln/>
        </p:spPr>
        <p:txBody>
          <a:bodyPr wrap="square" lIns="0" tIns="0" rIns="0" bIns="0"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5760720" y="2587752"/>
            <a:ext cx="2743200" cy="256032"/>
          </a:xfrm>
          <a:prstGeom prst="rect">
            <a:avLst/>
          </a:prstGeom>
          <a:noFill/>
          <a:ln/>
        </p:spPr>
        <p:txBody>
          <a:bodyPr wrap="square" lIns="0" tIns="0" rIns="0" bIns="0" rtlCol="0" anchor="ctr"/>
          <a:lstStyle/>
          <a:p>
            <a:pPr indent="0" marL="0">
              <a:buNone/>
            </a:pPr>
            <a:r>
              <a:rPr lang="en-US" sz="1100" dirty="0">
                <a:solidFill>
                  <a:srgbClr val="10B981"/>
                </a:solidFill>
                <a:latin typeface="Calibri" pitchFamily="34" charset="0"/>
                <a:ea typeface="Calibri" pitchFamily="34" charset="-122"/>
                <a:cs typeface="Calibri" pitchFamily="34" charset="-120"/>
              </a:rPr>
              <a:t>12 events → insights → scoring</a:t>
            </a:r>
            <a:endParaRPr lang="en-US" sz="1100" dirty="0"/>
          </a:p>
        </p:txBody>
      </p:sp>
      <p:sp>
        <p:nvSpPr>
          <p:cNvPr id="18" name="Shape 16"/>
          <p:cNvSpPr/>
          <p:nvPr/>
        </p:nvSpPr>
        <p:spPr>
          <a:xfrm>
            <a:off x="548640" y="3072384"/>
            <a:ext cx="8046720" cy="530352"/>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9" name="Shape 17"/>
          <p:cNvSpPr/>
          <p:nvPr/>
        </p:nvSpPr>
        <p:spPr>
          <a:xfrm>
            <a:off x="548640" y="3072384"/>
            <a:ext cx="54864" cy="530352"/>
          </a:xfrm>
          <a:prstGeom prst="rect">
            <a:avLst/>
          </a:prstGeom>
          <a:solidFill>
            <a:srgbClr val="F59E0B"/>
          </a:solidFill>
          <a:ln/>
        </p:spPr>
      </p:sp>
      <p:sp>
        <p:nvSpPr>
          <p:cNvPr id="20" name="Text 18"/>
          <p:cNvSpPr/>
          <p:nvPr/>
        </p:nvSpPr>
        <p:spPr>
          <a:xfrm>
            <a:off x="777240" y="3118104"/>
            <a:ext cx="640080" cy="201168"/>
          </a:xfrm>
          <a:prstGeom prst="rect">
            <a:avLst/>
          </a:prstGeom>
          <a:noFill/>
          <a:ln/>
        </p:spPr>
        <p:txBody>
          <a:bodyPr wrap="square" lIns="0" tIns="0" rIns="0" bIns="0" rtlCol="0" anchor="ctr"/>
          <a:lstStyle/>
          <a:p>
            <a:pPr indent="0" marL="0">
              <a:buNone/>
            </a:pPr>
            <a:r>
              <a:rPr lang="en-US" sz="900" dirty="0">
                <a:solidFill>
                  <a:srgbClr val="64748B"/>
                </a:solidFill>
                <a:latin typeface="Consolas" pitchFamily="34" charset="0"/>
                <a:ea typeface="Consolas" pitchFamily="34" charset="-122"/>
                <a:cs typeface="Consolas" pitchFamily="34" charset="-120"/>
              </a:rPr>
              <a:t>Gap 3</a:t>
            </a:r>
            <a:endParaRPr lang="en-US" sz="900" dirty="0"/>
          </a:p>
        </p:txBody>
      </p:sp>
      <p:sp>
        <p:nvSpPr>
          <p:cNvPr id="21" name="Text 19"/>
          <p:cNvSpPr/>
          <p:nvPr/>
        </p:nvSpPr>
        <p:spPr>
          <a:xfrm>
            <a:off x="777240" y="3319272"/>
            <a:ext cx="2011680" cy="201168"/>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AI Integration</a:t>
            </a:r>
            <a:endParaRPr lang="en-US" sz="1200" dirty="0"/>
          </a:p>
        </p:txBody>
      </p:sp>
      <p:sp>
        <p:nvSpPr>
          <p:cNvPr id="22" name="Text 20"/>
          <p:cNvSpPr/>
          <p:nvPr/>
        </p:nvSpPr>
        <p:spPr>
          <a:xfrm>
            <a:off x="3017520" y="3209544"/>
            <a:ext cx="2377440" cy="256032"/>
          </a:xfrm>
          <a:prstGeom prst="rect">
            <a:avLst/>
          </a:prstGeom>
          <a:noFill/>
          <a:ln/>
        </p:spPr>
        <p:txBody>
          <a:bodyPr wrap="square" lIns="0" tIns="0" rIns="0" bIns="0" rtlCol="0" anchor="ctr"/>
          <a:lstStyle/>
          <a:p>
            <a:pPr indent="0" marL="0">
              <a:buNone/>
            </a:pPr>
            <a:r>
              <a:rPr lang="en-US" sz="1100" dirty="0">
                <a:solidFill>
                  <a:srgbClr val="EF4444"/>
                </a:solidFill>
                <a:latin typeface="Calibri" pitchFamily="34" charset="0"/>
                <a:ea typeface="Calibri" pitchFamily="34" charset="-122"/>
                <a:cs typeface="Calibri" pitchFamily="34" charset="-120"/>
              </a:rPr>
              <a:t>Hardcoded scoring</a:t>
            </a:r>
            <a:endParaRPr lang="en-US" sz="1100" dirty="0"/>
          </a:p>
        </p:txBody>
      </p:sp>
      <p:sp>
        <p:nvSpPr>
          <p:cNvPr id="23" name="Text 21"/>
          <p:cNvSpPr/>
          <p:nvPr/>
        </p:nvSpPr>
        <p:spPr>
          <a:xfrm>
            <a:off x="5394960" y="3182112"/>
            <a:ext cx="274320" cy="310896"/>
          </a:xfrm>
          <a:prstGeom prst="rect">
            <a:avLst/>
          </a:prstGeom>
          <a:noFill/>
          <a:ln/>
        </p:spPr>
        <p:txBody>
          <a:bodyPr wrap="square" lIns="0" tIns="0" rIns="0" bIns="0"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24" name="Text 22"/>
          <p:cNvSpPr/>
          <p:nvPr/>
        </p:nvSpPr>
        <p:spPr>
          <a:xfrm>
            <a:off x="5760720" y="3209544"/>
            <a:ext cx="2743200" cy="256032"/>
          </a:xfrm>
          <a:prstGeom prst="rect">
            <a:avLst/>
          </a:prstGeom>
          <a:noFill/>
          <a:ln/>
        </p:spPr>
        <p:txBody>
          <a:bodyPr wrap="square" lIns="0" tIns="0" rIns="0" bIns="0" rtlCol="0" anchor="ctr"/>
          <a:lstStyle/>
          <a:p>
            <a:pPr indent="0" marL="0">
              <a:buNone/>
            </a:pPr>
            <a:r>
              <a:rPr lang="en-US" sz="1100" dirty="0">
                <a:solidFill>
                  <a:srgbClr val="10B981"/>
                </a:solidFill>
                <a:latin typeface="Calibri" pitchFamily="34" charset="0"/>
                <a:ea typeface="Calibri" pitchFamily="34" charset="-122"/>
                <a:cs typeface="Calibri" pitchFamily="34" charset="-120"/>
              </a:rPr>
              <a:t>Feedback loop, soul profile, goals</a:t>
            </a:r>
            <a:endParaRPr lang="en-US" sz="1100" dirty="0"/>
          </a:p>
        </p:txBody>
      </p:sp>
      <p:sp>
        <p:nvSpPr>
          <p:cNvPr id="25" name="Shape 23"/>
          <p:cNvSpPr/>
          <p:nvPr/>
        </p:nvSpPr>
        <p:spPr>
          <a:xfrm>
            <a:off x="548640" y="3694176"/>
            <a:ext cx="8046720" cy="530352"/>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26" name="Shape 24"/>
          <p:cNvSpPr/>
          <p:nvPr/>
        </p:nvSpPr>
        <p:spPr>
          <a:xfrm>
            <a:off x="548640" y="3694176"/>
            <a:ext cx="54864" cy="530352"/>
          </a:xfrm>
          <a:prstGeom prst="rect">
            <a:avLst/>
          </a:prstGeom>
          <a:solidFill>
            <a:srgbClr val="10B981"/>
          </a:solidFill>
          <a:ln/>
        </p:spPr>
      </p:sp>
      <p:sp>
        <p:nvSpPr>
          <p:cNvPr id="27" name="Text 25"/>
          <p:cNvSpPr/>
          <p:nvPr/>
        </p:nvSpPr>
        <p:spPr>
          <a:xfrm>
            <a:off x="777240" y="3739896"/>
            <a:ext cx="640080" cy="201168"/>
          </a:xfrm>
          <a:prstGeom prst="rect">
            <a:avLst/>
          </a:prstGeom>
          <a:noFill/>
          <a:ln/>
        </p:spPr>
        <p:txBody>
          <a:bodyPr wrap="square" lIns="0" tIns="0" rIns="0" bIns="0" rtlCol="0" anchor="ctr"/>
          <a:lstStyle/>
          <a:p>
            <a:pPr indent="0" marL="0">
              <a:buNone/>
            </a:pPr>
            <a:r>
              <a:rPr lang="en-US" sz="900" dirty="0">
                <a:solidFill>
                  <a:srgbClr val="64748B"/>
                </a:solidFill>
                <a:latin typeface="Consolas" pitchFamily="34" charset="0"/>
                <a:ea typeface="Consolas" pitchFamily="34" charset="-122"/>
                <a:cs typeface="Consolas" pitchFamily="34" charset="-120"/>
              </a:rPr>
              <a:t>Gap 4</a:t>
            </a:r>
            <a:endParaRPr lang="en-US" sz="900" dirty="0"/>
          </a:p>
        </p:txBody>
      </p:sp>
      <p:sp>
        <p:nvSpPr>
          <p:cNvPr id="28" name="Text 26"/>
          <p:cNvSpPr/>
          <p:nvPr/>
        </p:nvSpPr>
        <p:spPr>
          <a:xfrm>
            <a:off x="777240" y="3941064"/>
            <a:ext cx="2011680" cy="201168"/>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Interoperability</a:t>
            </a:r>
            <a:endParaRPr lang="en-US" sz="1200" dirty="0"/>
          </a:p>
        </p:txBody>
      </p:sp>
      <p:sp>
        <p:nvSpPr>
          <p:cNvPr id="29" name="Text 27"/>
          <p:cNvSpPr/>
          <p:nvPr/>
        </p:nvSpPr>
        <p:spPr>
          <a:xfrm>
            <a:off x="3017520" y="3831336"/>
            <a:ext cx="2377440" cy="256032"/>
          </a:xfrm>
          <a:prstGeom prst="rect">
            <a:avLst/>
          </a:prstGeom>
          <a:noFill/>
          <a:ln/>
        </p:spPr>
        <p:txBody>
          <a:bodyPr wrap="square" lIns="0" tIns="0" rIns="0" bIns="0" rtlCol="0" anchor="ctr"/>
          <a:lstStyle/>
          <a:p>
            <a:pPr indent="0" marL="0">
              <a:buNone/>
            </a:pPr>
            <a:r>
              <a:rPr lang="en-US" sz="1100" dirty="0">
                <a:solidFill>
                  <a:srgbClr val="EF4444"/>
                </a:solidFill>
                <a:latin typeface="Calibri" pitchFamily="34" charset="0"/>
                <a:ea typeface="Calibri" pitchFamily="34" charset="-122"/>
                <a:cs typeface="Calibri" pitchFamily="34" charset="-120"/>
              </a:rPr>
              <a:t>Login-only</a:t>
            </a:r>
            <a:endParaRPr lang="en-US" sz="1100" dirty="0"/>
          </a:p>
        </p:txBody>
      </p:sp>
      <p:sp>
        <p:nvSpPr>
          <p:cNvPr id="30" name="Text 28"/>
          <p:cNvSpPr/>
          <p:nvPr/>
        </p:nvSpPr>
        <p:spPr>
          <a:xfrm>
            <a:off x="5394960" y="3803904"/>
            <a:ext cx="274320" cy="310896"/>
          </a:xfrm>
          <a:prstGeom prst="rect">
            <a:avLst/>
          </a:prstGeom>
          <a:noFill/>
          <a:ln/>
        </p:spPr>
        <p:txBody>
          <a:bodyPr wrap="square" lIns="0" tIns="0" rIns="0" bIns="0"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31" name="Text 29"/>
          <p:cNvSpPr/>
          <p:nvPr/>
        </p:nvSpPr>
        <p:spPr>
          <a:xfrm>
            <a:off x="5760720" y="3831336"/>
            <a:ext cx="2743200" cy="256032"/>
          </a:xfrm>
          <a:prstGeom prst="rect">
            <a:avLst/>
          </a:prstGeom>
          <a:noFill/>
          <a:ln/>
        </p:spPr>
        <p:txBody>
          <a:bodyPr wrap="square" lIns="0" tIns="0" rIns="0" bIns="0" rtlCol="0" anchor="ctr"/>
          <a:lstStyle/>
          <a:p>
            <a:pPr indent="0" marL="0">
              <a:buNone/>
            </a:pPr>
            <a:r>
              <a:rPr lang="en-US" sz="1100" dirty="0">
                <a:solidFill>
                  <a:srgbClr val="10B981"/>
                </a:solidFill>
                <a:latin typeface="Calibri" pitchFamily="34" charset="0"/>
                <a:ea typeface="Calibri" pitchFamily="34" charset="-122"/>
                <a:cs typeface="Calibri" pitchFamily="34" charset="-120"/>
              </a:rPr>
              <a:t>ICS, email, offline, GDPR export</a:t>
            </a:r>
            <a:endParaRPr lang="en-US" sz="1100" dirty="0"/>
          </a:p>
        </p:txBody>
      </p:sp>
      <p:sp>
        <p:nvSpPr>
          <p:cNvPr id="32" name="Shape 30"/>
          <p:cNvSpPr/>
          <p:nvPr/>
        </p:nvSpPr>
        <p:spPr>
          <a:xfrm>
            <a:off x="548640" y="4315968"/>
            <a:ext cx="8046720" cy="530352"/>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33" name="Shape 31"/>
          <p:cNvSpPr/>
          <p:nvPr/>
        </p:nvSpPr>
        <p:spPr>
          <a:xfrm>
            <a:off x="548640" y="4315968"/>
            <a:ext cx="54864" cy="530352"/>
          </a:xfrm>
          <a:prstGeom prst="rect">
            <a:avLst/>
          </a:prstGeom>
          <a:solidFill>
            <a:srgbClr val="10B981"/>
          </a:solidFill>
          <a:ln/>
        </p:spPr>
      </p:sp>
      <p:sp>
        <p:nvSpPr>
          <p:cNvPr id="34" name="Text 32"/>
          <p:cNvSpPr/>
          <p:nvPr/>
        </p:nvSpPr>
        <p:spPr>
          <a:xfrm>
            <a:off x="777240" y="4361688"/>
            <a:ext cx="640080" cy="201168"/>
          </a:xfrm>
          <a:prstGeom prst="rect">
            <a:avLst/>
          </a:prstGeom>
          <a:noFill/>
          <a:ln/>
        </p:spPr>
        <p:txBody>
          <a:bodyPr wrap="square" lIns="0" tIns="0" rIns="0" bIns="0" rtlCol="0" anchor="ctr"/>
          <a:lstStyle/>
          <a:p>
            <a:pPr indent="0" marL="0">
              <a:buNone/>
            </a:pPr>
            <a:r>
              <a:rPr lang="en-US" sz="900" dirty="0">
                <a:solidFill>
                  <a:srgbClr val="64748B"/>
                </a:solidFill>
                <a:latin typeface="Consolas" pitchFamily="34" charset="0"/>
                <a:ea typeface="Consolas" pitchFamily="34" charset="-122"/>
                <a:cs typeface="Consolas" pitchFamily="34" charset="-120"/>
              </a:rPr>
              <a:t>Gap 5</a:t>
            </a:r>
            <a:endParaRPr lang="en-US" sz="900" dirty="0"/>
          </a:p>
        </p:txBody>
      </p:sp>
      <p:sp>
        <p:nvSpPr>
          <p:cNvPr id="35" name="Text 33"/>
          <p:cNvSpPr/>
          <p:nvPr/>
        </p:nvSpPr>
        <p:spPr>
          <a:xfrm>
            <a:off x="777240" y="4562856"/>
            <a:ext cx="2011680" cy="201168"/>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Trust &amp; Privacy</a:t>
            </a:r>
            <a:endParaRPr lang="en-US" sz="1200" dirty="0"/>
          </a:p>
        </p:txBody>
      </p:sp>
      <p:sp>
        <p:nvSpPr>
          <p:cNvPr id="36" name="Text 34"/>
          <p:cNvSpPr/>
          <p:nvPr/>
        </p:nvSpPr>
        <p:spPr>
          <a:xfrm>
            <a:off x="3017520" y="4453128"/>
            <a:ext cx="2377440" cy="256032"/>
          </a:xfrm>
          <a:prstGeom prst="rect">
            <a:avLst/>
          </a:prstGeom>
          <a:noFill/>
          <a:ln/>
        </p:spPr>
        <p:txBody>
          <a:bodyPr wrap="square" lIns="0" tIns="0" rIns="0" bIns="0" rtlCol="0" anchor="ctr"/>
          <a:lstStyle/>
          <a:p>
            <a:pPr indent="0" marL="0">
              <a:buNone/>
            </a:pPr>
            <a:r>
              <a:rPr lang="en-US" sz="1100" dirty="0">
                <a:solidFill>
                  <a:srgbClr val="EF4444"/>
                </a:solidFill>
                <a:latin typeface="Calibri" pitchFamily="34" charset="0"/>
                <a:ea typeface="Calibri" pitchFamily="34" charset="-122"/>
                <a:cs typeface="Calibri" pitchFamily="34" charset="-120"/>
              </a:rPr>
              <a:t>Basic auth only</a:t>
            </a:r>
            <a:endParaRPr lang="en-US" sz="1100" dirty="0"/>
          </a:p>
        </p:txBody>
      </p:sp>
      <p:sp>
        <p:nvSpPr>
          <p:cNvPr id="37" name="Text 35"/>
          <p:cNvSpPr/>
          <p:nvPr/>
        </p:nvSpPr>
        <p:spPr>
          <a:xfrm>
            <a:off x="5394960" y="4425696"/>
            <a:ext cx="274320" cy="310896"/>
          </a:xfrm>
          <a:prstGeom prst="rect">
            <a:avLst/>
          </a:prstGeom>
          <a:noFill/>
          <a:ln/>
        </p:spPr>
        <p:txBody>
          <a:bodyPr wrap="square" lIns="0" tIns="0" rIns="0" bIns="0"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38" name="Text 36"/>
          <p:cNvSpPr/>
          <p:nvPr/>
        </p:nvSpPr>
        <p:spPr>
          <a:xfrm>
            <a:off x="5760720" y="4453128"/>
            <a:ext cx="2743200" cy="256032"/>
          </a:xfrm>
          <a:prstGeom prst="rect">
            <a:avLst/>
          </a:prstGeom>
          <a:noFill/>
          <a:ln/>
        </p:spPr>
        <p:txBody>
          <a:bodyPr wrap="square" lIns="0" tIns="0" rIns="0" bIns="0" rtlCol="0" anchor="ctr"/>
          <a:lstStyle/>
          <a:p>
            <a:pPr indent="0" marL="0">
              <a:buNone/>
            </a:pPr>
            <a:r>
              <a:rPr lang="en-US" sz="1100" dirty="0">
                <a:solidFill>
                  <a:srgbClr val="10B981"/>
                </a:solidFill>
                <a:latin typeface="Calibri" pitchFamily="34" charset="0"/>
                <a:ea typeface="Calibri" pitchFamily="34" charset="-122"/>
                <a:cs typeface="Calibri" pitchFamily="34" charset="-120"/>
              </a:rPr>
              <a:t>PII sanitizer, AI opt-out, retention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Delivery Timeline — 6 PRs, All CI Green</a:t>
            </a:r>
            <a:endParaRPr lang="en-US" sz="2800" dirty="0"/>
          </a:p>
        </p:txBody>
      </p:sp>
      <p:sp>
        <p:nvSpPr>
          <p:cNvPr id="3" name="Shape 1"/>
          <p:cNvSpPr/>
          <p:nvPr/>
        </p:nvSpPr>
        <p:spPr>
          <a:xfrm>
            <a:off x="548640" y="1188720"/>
            <a:ext cx="8046720" cy="475488"/>
          </a:xfrm>
          <a:prstGeom prst="rect">
            <a:avLst/>
          </a:prstGeom>
          <a:solidFill>
            <a:srgbClr val="F4F6FA"/>
          </a:solidFill>
          <a:ln/>
        </p:spPr>
      </p:sp>
      <p:sp>
        <p:nvSpPr>
          <p:cNvPr id="4" name="Shape 2"/>
          <p:cNvSpPr/>
          <p:nvPr/>
        </p:nvSpPr>
        <p:spPr>
          <a:xfrm>
            <a:off x="685800" y="1280160"/>
            <a:ext cx="457200" cy="292608"/>
          </a:xfrm>
          <a:prstGeom prst="rect">
            <a:avLst/>
          </a:prstGeom>
          <a:solidFill>
            <a:srgbClr val="10B981"/>
          </a:solidFill>
          <a:ln/>
        </p:spPr>
      </p:sp>
      <p:sp>
        <p:nvSpPr>
          <p:cNvPr id="5" name="Text 3"/>
          <p:cNvSpPr/>
          <p:nvPr/>
        </p:nvSpPr>
        <p:spPr>
          <a:xfrm>
            <a:off x="685800" y="1280160"/>
            <a:ext cx="45720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H1</a:t>
            </a:r>
            <a:endParaRPr lang="en-US" sz="1000" dirty="0"/>
          </a:p>
        </p:txBody>
      </p:sp>
      <p:sp>
        <p:nvSpPr>
          <p:cNvPr id="6" name="Text 4"/>
          <p:cNvSpPr/>
          <p:nvPr/>
        </p:nvSpPr>
        <p:spPr>
          <a:xfrm>
            <a:off x="1280160" y="1261872"/>
            <a:ext cx="640080" cy="320040"/>
          </a:xfrm>
          <a:prstGeom prst="rect">
            <a:avLst/>
          </a:prstGeom>
          <a:noFill/>
          <a:ln/>
        </p:spPr>
        <p:txBody>
          <a:bodyPr wrap="square" lIns="0" tIns="0" rIns="0" bIns="0" rtlCol="0" anchor="ctr"/>
          <a:lstStyle/>
          <a:p>
            <a:pPr indent="0" marL="0">
              <a:buNone/>
            </a:pPr>
            <a:r>
              <a:rPr lang="en-US" sz="1300" b="1" dirty="0">
                <a:solidFill>
                  <a:srgbClr val="667EEA"/>
                </a:solidFill>
                <a:latin typeface="Consolas" pitchFamily="34" charset="0"/>
                <a:ea typeface="Consolas" pitchFamily="34" charset="-122"/>
                <a:cs typeface="Consolas" pitchFamily="34" charset="-120"/>
              </a:rPr>
              <a:t>#639</a:t>
            </a:r>
            <a:endParaRPr lang="en-US" sz="1300" dirty="0"/>
          </a:p>
        </p:txBody>
      </p:sp>
      <p:sp>
        <p:nvSpPr>
          <p:cNvPr id="7" name="Text 5"/>
          <p:cNvSpPr/>
          <p:nvPr/>
        </p:nvSpPr>
        <p:spPr>
          <a:xfrm>
            <a:off x="2011680" y="1261872"/>
            <a:ext cx="5029200" cy="32004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Data pipeline, AI privacy, calendar</a:t>
            </a:r>
            <a:endParaRPr lang="en-US" sz="1300" dirty="0"/>
          </a:p>
        </p:txBody>
      </p:sp>
      <p:sp>
        <p:nvSpPr>
          <p:cNvPr id="8" name="Text 6"/>
          <p:cNvSpPr/>
          <p:nvPr/>
        </p:nvSpPr>
        <p:spPr>
          <a:xfrm>
            <a:off x="7223760" y="1261872"/>
            <a:ext cx="1188720" cy="320040"/>
          </a:xfrm>
          <a:prstGeom prst="rect">
            <a:avLst/>
          </a:prstGeom>
          <a:noFill/>
          <a:ln/>
        </p:spPr>
        <p:txBody>
          <a:bodyPr wrap="square" lIns="0" tIns="0" rIns="0" bIns="0" rtlCol="0" anchor="ctr"/>
          <a:lstStyle/>
          <a:p>
            <a:pPr algn="r" indent="0" marL="0">
              <a:buNone/>
            </a:pPr>
            <a:r>
              <a:rPr lang="en-US" sz="1300" dirty="0">
                <a:solidFill>
                  <a:srgbClr val="64748B"/>
                </a:solidFill>
                <a:latin typeface="Consolas" pitchFamily="34" charset="0"/>
                <a:ea typeface="Consolas" pitchFamily="34" charset="-122"/>
                <a:cs typeface="Consolas" pitchFamily="34" charset="-120"/>
              </a:rPr>
              <a:t>+1,998</a:t>
            </a:r>
            <a:endParaRPr lang="en-US" sz="1300" dirty="0"/>
          </a:p>
        </p:txBody>
      </p:sp>
      <p:sp>
        <p:nvSpPr>
          <p:cNvPr id="9" name="Shape 7"/>
          <p:cNvSpPr/>
          <p:nvPr/>
        </p:nvSpPr>
        <p:spPr>
          <a:xfrm>
            <a:off x="548640" y="1783080"/>
            <a:ext cx="8046720" cy="475488"/>
          </a:xfrm>
          <a:prstGeom prst="rect">
            <a:avLst/>
          </a:prstGeom>
          <a:solidFill>
            <a:srgbClr val="F4F6FA"/>
          </a:solidFill>
          <a:ln/>
        </p:spPr>
      </p:sp>
      <p:sp>
        <p:nvSpPr>
          <p:cNvPr id="10" name="Shape 8"/>
          <p:cNvSpPr/>
          <p:nvPr/>
        </p:nvSpPr>
        <p:spPr>
          <a:xfrm>
            <a:off x="685800" y="1874520"/>
            <a:ext cx="457200" cy="292608"/>
          </a:xfrm>
          <a:prstGeom prst="rect">
            <a:avLst/>
          </a:prstGeom>
          <a:solidFill>
            <a:srgbClr val="10B981"/>
          </a:solidFill>
          <a:ln/>
        </p:spPr>
      </p:sp>
      <p:sp>
        <p:nvSpPr>
          <p:cNvPr id="11" name="Text 9"/>
          <p:cNvSpPr/>
          <p:nvPr/>
        </p:nvSpPr>
        <p:spPr>
          <a:xfrm>
            <a:off x="685800" y="1874520"/>
            <a:ext cx="45720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H1</a:t>
            </a:r>
            <a:endParaRPr lang="en-US" sz="1000" dirty="0"/>
          </a:p>
        </p:txBody>
      </p:sp>
      <p:sp>
        <p:nvSpPr>
          <p:cNvPr id="12" name="Text 10"/>
          <p:cNvSpPr/>
          <p:nvPr/>
        </p:nvSpPr>
        <p:spPr>
          <a:xfrm>
            <a:off x="1280160" y="1856232"/>
            <a:ext cx="640080" cy="320040"/>
          </a:xfrm>
          <a:prstGeom prst="rect">
            <a:avLst/>
          </a:prstGeom>
          <a:noFill/>
          <a:ln/>
        </p:spPr>
        <p:txBody>
          <a:bodyPr wrap="square" lIns="0" tIns="0" rIns="0" bIns="0" rtlCol="0" anchor="ctr"/>
          <a:lstStyle/>
          <a:p>
            <a:pPr indent="0" marL="0">
              <a:buNone/>
            </a:pPr>
            <a:r>
              <a:rPr lang="en-US" sz="1300" b="1" dirty="0">
                <a:solidFill>
                  <a:srgbClr val="667EEA"/>
                </a:solidFill>
                <a:latin typeface="Consolas" pitchFamily="34" charset="0"/>
                <a:ea typeface="Consolas" pitchFamily="34" charset="-122"/>
                <a:cs typeface="Consolas" pitchFamily="34" charset="-120"/>
              </a:rPr>
              <a:t>#641</a:t>
            </a:r>
            <a:endParaRPr lang="en-US" sz="1300" dirty="0"/>
          </a:p>
        </p:txBody>
      </p:sp>
      <p:sp>
        <p:nvSpPr>
          <p:cNvPr id="13" name="Text 11"/>
          <p:cNvSpPr/>
          <p:nvPr/>
        </p:nvSpPr>
        <p:spPr>
          <a:xfrm>
            <a:off x="2011680" y="1856232"/>
            <a:ext cx="5029200" cy="32004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Insights card, event coverage, tests</a:t>
            </a:r>
            <a:endParaRPr lang="en-US" sz="1300" dirty="0"/>
          </a:p>
        </p:txBody>
      </p:sp>
      <p:sp>
        <p:nvSpPr>
          <p:cNvPr id="14" name="Text 12"/>
          <p:cNvSpPr/>
          <p:nvPr/>
        </p:nvSpPr>
        <p:spPr>
          <a:xfrm>
            <a:off x="7223760" y="1856232"/>
            <a:ext cx="1188720" cy="320040"/>
          </a:xfrm>
          <a:prstGeom prst="rect">
            <a:avLst/>
          </a:prstGeom>
          <a:noFill/>
          <a:ln/>
        </p:spPr>
        <p:txBody>
          <a:bodyPr wrap="square" lIns="0" tIns="0" rIns="0" bIns="0" rtlCol="0" anchor="ctr"/>
          <a:lstStyle/>
          <a:p>
            <a:pPr algn="r" indent="0" marL="0">
              <a:buNone/>
            </a:pPr>
            <a:r>
              <a:rPr lang="en-US" sz="1300" dirty="0">
                <a:solidFill>
                  <a:srgbClr val="64748B"/>
                </a:solidFill>
                <a:latin typeface="Consolas" pitchFamily="34" charset="0"/>
                <a:ea typeface="Consolas" pitchFamily="34" charset="-122"/>
                <a:cs typeface="Consolas" pitchFamily="34" charset="-120"/>
              </a:rPr>
              <a:t>+711</a:t>
            </a:r>
            <a:endParaRPr lang="en-US" sz="1300" dirty="0"/>
          </a:p>
        </p:txBody>
      </p:sp>
      <p:sp>
        <p:nvSpPr>
          <p:cNvPr id="15" name="Shape 13"/>
          <p:cNvSpPr/>
          <p:nvPr/>
        </p:nvSpPr>
        <p:spPr>
          <a:xfrm>
            <a:off x="548640" y="2377440"/>
            <a:ext cx="8046720" cy="475488"/>
          </a:xfrm>
          <a:prstGeom prst="rect">
            <a:avLst/>
          </a:prstGeom>
          <a:solidFill>
            <a:srgbClr val="F4F6FA"/>
          </a:solidFill>
          <a:ln/>
        </p:spPr>
      </p:sp>
      <p:sp>
        <p:nvSpPr>
          <p:cNvPr id="16" name="Shape 14"/>
          <p:cNvSpPr/>
          <p:nvPr/>
        </p:nvSpPr>
        <p:spPr>
          <a:xfrm>
            <a:off x="685800" y="2468880"/>
            <a:ext cx="457200" cy="292608"/>
          </a:xfrm>
          <a:prstGeom prst="rect">
            <a:avLst/>
          </a:prstGeom>
          <a:solidFill>
            <a:srgbClr val="667EEA"/>
          </a:solidFill>
          <a:ln/>
        </p:spPr>
      </p:sp>
      <p:sp>
        <p:nvSpPr>
          <p:cNvPr id="17" name="Text 15"/>
          <p:cNvSpPr/>
          <p:nvPr/>
        </p:nvSpPr>
        <p:spPr>
          <a:xfrm>
            <a:off x="685800" y="2468880"/>
            <a:ext cx="45720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H2</a:t>
            </a:r>
            <a:endParaRPr lang="en-US" sz="1000" dirty="0"/>
          </a:p>
        </p:txBody>
      </p:sp>
      <p:sp>
        <p:nvSpPr>
          <p:cNvPr id="18" name="Text 16"/>
          <p:cNvSpPr/>
          <p:nvPr/>
        </p:nvSpPr>
        <p:spPr>
          <a:xfrm>
            <a:off x="1280160" y="2450592"/>
            <a:ext cx="640080" cy="320040"/>
          </a:xfrm>
          <a:prstGeom prst="rect">
            <a:avLst/>
          </a:prstGeom>
          <a:noFill/>
          <a:ln/>
        </p:spPr>
        <p:txBody>
          <a:bodyPr wrap="square" lIns="0" tIns="0" rIns="0" bIns="0" rtlCol="0" anchor="ctr"/>
          <a:lstStyle/>
          <a:p>
            <a:pPr indent="0" marL="0">
              <a:buNone/>
            </a:pPr>
            <a:r>
              <a:rPr lang="en-US" sz="1300" b="1" dirty="0">
                <a:solidFill>
                  <a:srgbClr val="667EEA"/>
                </a:solidFill>
                <a:latin typeface="Consolas" pitchFamily="34" charset="0"/>
                <a:ea typeface="Consolas" pitchFamily="34" charset="-122"/>
                <a:cs typeface="Consolas" pitchFamily="34" charset="-120"/>
              </a:rPr>
              <a:t>#644</a:t>
            </a:r>
            <a:endParaRPr lang="en-US" sz="1300" dirty="0"/>
          </a:p>
        </p:txBody>
      </p:sp>
      <p:sp>
        <p:nvSpPr>
          <p:cNvPr id="19" name="Text 17"/>
          <p:cNvSpPr/>
          <p:nvPr/>
        </p:nvSpPr>
        <p:spPr>
          <a:xfrm>
            <a:off x="2011680" y="2450592"/>
            <a:ext cx="5029200" cy="32004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Feedback loop, scoring, reminders, offline</a:t>
            </a:r>
            <a:endParaRPr lang="en-US" sz="1300" dirty="0"/>
          </a:p>
        </p:txBody>
      </p:sp>
      <p:sp>
        <p:nvSpPr>
          <p:cNvPr id="20" name="Text 18"/>
          <p:cNvSpPr/>
          <p:nvPr/>
        </p:nvSpPr>
        <p:spPr>
          <a:xfrm>
            <a:off x="7223760" y="2450592"/>
            <a:ext cx="1188720" cy="320040"/>
          </a:xfrm>
          <a:prstGeom prst="rect">
            <a:avLst/>
          </a:prstGeom>
          <a:noFill/>
          <a:ln/>
        </p:spPr>
        <p:txBody>
          <a:bodyPr wrap="square" lIns="0" tIns="0" rIns="0" bIns="0" rtlCol="0" anchor="ctr"/>
          <a:lstStyle/>
          <a:p>
            <a:pPr algn="r" indent="0" marL="0">
              <a:buNone/>
            </a:pPr>
            <a:r>
              <a:rPr lang="en-US" sz="1300" dirty="0">
                <a:solidFill>
                  <a:srgbClr val="64748B"/>
                </a:solidFill>
                <a:latin typeface="Consolas" pitchFamily="34" charset="0"/>
                <a:ea typeface="Consolas" pitchFamily="34" charset="-122"/>
                <a:cs typeface="Consolas" pitchFamily="34" charset="-120"/>
              </a:rPr>
              <a:t>+876</a:t>
            </a:r>
            <a:endParaRPr lang="en-US" sz="1300" dirty="0"/>
          </a:p>
        </p:txBody>
      </p:sp>
      <p:sp>
        <p:nvSpPr>
          <p:cNvPr id="21" name="Shape 19"/>
          <p:cNvSpPr/>
          <p:nvPr/>
        </p:nvSpPr>
        <p:spPr>
          <a:xfrm>
            <a:off x="548640" y="2971800"/>
            <a:ext cx="8046720" cy="475488"/>
          </a:xfrm>
          <a:prstGeom prst="rect">
            <a:avLst/>
          </a:prstGeom>
          <a:solidFill>
            <a:srgbClr val="F4F6FA"/>
          </a:solidFill>
          <a:ln/>
        </p:spPr>
      </p:sp>
      <p:sp>
        <p:nvSpPr>
          <p:cNvPr id="22" name="Shape 20"/>
          <p:cNvSpPr/>
          <p:nvPr/>
        </p:nvSpPr>
        <p:spPr>
          <a:xfrm>
            <a:off x="685800" y="3063240"/>
            <a:ext cx="457200" cy="292608"/>
          </a:xfrm>
          <a:prstGeom prst="rect">
            <a:avLst/>
          </a:prstGeom>
          <a:solidFill>
            <a:srgbClr val="F59E0B"/>
          </a:solidFill>
          <a:ln/>
        </p:spPr>
      </p:sp>
      <p:sp>
        <p:nvSpPr>
          <p:cNvPr id="23" name="Text 21"/>
          <p:cNvSpPr/>
          <p:nvPr/>
        </p:nvSpPr>
        <p:spPr>
          <a:xfrm>
            <a:off x="685800" y="3063240"/>
            <a:ext cx="45720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H3</a:t>
            </a:r>
            <a:endParaRPr lang="en-US" sz="1000" dirty="0"/>
          </a:p>
        </p:txBody>
      </p:sp>
      <p:sp>
        <p:nvSpPr>
          <p:cNvPr id="24" name="Text 22"/>
          <p:cNvSpPr/>
          <p:nvPr/>
        </p:nvSpPr>
        <p:spPr>
          <a:xfrm>
            <a:off x="1280160" y="3044952"/>
            <a:ext cx="640080" cy="320040"/>
          </a:xfrm>
          <a:prstGeom prst="rect">
            <a:avLst/>
          </a:prstGeom>
          <a:noFill/>
          <a:ln/>
        </p:spPr>
        <p:txBody>
          <a:bodyPr wrap="square" lIns="0" tIns="0" rIns="0" bIns="0" rtlCol="0" anchor="ctr"/>
          <a:lstStyle/>
          <a:p>
            <a:pPr indent="0" marL="0">
              <a:buNone/>
            </a:pPr>
            <a:r>
              <a:rPr lang="en-US" sz="1300" b="1" dirty="0">
                <a:solidFill>
                  <a:srgbClr val="667EEA"/>
                </a:solidFill>
                <a:latin typeface="Consolas" pitchFamily="34" charset="0"/>
                <a:ea typeface="Consolas" pitchFamily="34" charset="-122"/>
                <a:cs typeface="Consolas" pitchFamily="34" charset="-120"/>
              </a:rPr>
              <a:t>#645</a:t>
            </a:r>
            <a:endParaRPr lang="en-US" sz="1300" dirty="0"/>
          </a:p>
        </p:txBody>
      </p:sp>
      <p:sp>
        <p:nvSpPr>
          <p:cNvPr id="25" name="Text 23"/>
          <p:cNvSpPr/>
          <p:nvPr/>
        </p:nvSpPr>
        <p:spPr>
          <a:xfrm>
            <a:off x="2011680" y="3044952"/>
            <a:ext cx="5029200" cy="32004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Entity expansion, agents, privacy moat</a:t>
            </a:r>
            <a:endParaRPr lang="en-US" sz="1300" dirty="0"/>
          </a:p>
        </p:txBody>
      </p:sp>
      <p:sp>
        <p:nvSpPr>
          <p:cNvPr id="26" name="Text 24"/>
          <p:cNvSpPr/>
          <p:nvPr/>
        </p:nvSpPr>
        <p:spPr>
          <a:xfrm>
            <a:off x="7223760" y="3044952"/>
            <a:ext cx="1188720" cy="320040"/>
          </a:xfrm>
          <a:prstGeom prst="rect">
            <a:avLst/>
          </a:prstGeom>
          <a:noFill/>
          <a:ln/>
        </p:spPr>
        <p:txBody>
          <a:bodyPr wrap="square" lIns="0" tIns="0" rIns="0" bIns="0" rtlCol="0" anchor="ctr"/>
          <a:lstStyle/>
          <a:p>
            <a:pPr algn="r" indent="0" marL="0">
              <a:buNone/>
            </a:pPr>
            <a:r>
              <a:rPr lang="en-US" sz="1300" dirty="0">
                <a:solidFill>
                  <a:srgbClr val="64748B"/>
                </a:solidFill>
                <a:latin typeface="Consolas" pitchFamily="34" charset="0"/>
                <a:ea typeface="Consolas" pitchFamily="34" charset="-122"/>
                <a:cs typeface="Consolas" pitchFamily="34" charset="-120"/>
              </a:rPr>
              <a:t>+1,834</a:t>
            </a:r>
            <a:endParaRPr lang="en-US" sz="1300" dirty="0"/>
          </a:p>
        </p:txBody>
      </p:sp>
      <p:sp>
        <p:nvSpPr>
          <p:cNvPr id="27" name="Shape 25"/>
          <p:cNvSpPr/>
          <p:nvPr/>
        </p:nvSpPr>
        <p:spPr>
          <a:xfrm>
            <a:off x="548640" y="3566160"/>
            <a:ext cx="8046720" cy="475488"/>
          </a:xfrm>
          <a:prstGeom prst="rect">
            <a:avLst/>
          </a:prstGeom>
          <a:solidFill>
            <a:srgbClr val="F4F6FA"/>
          </a:solidFill>
          <a:ln/>
        </p:spPr>
      </p:sp>
      <p:sp>
        <p:nvSpPr>
          <p:cNvPr id="28" name="Shape 26"/>
          <p:cNvSpPr/>
          <p:nvPr/>
        </p:nvSpPr>
        <p:spPr>
          <a:xfrm>
            <a:off x="685800" y="3657600"/>
            <a:ext cx="457200" cy="292608"/>
          </a:xfrm>
          <a:prstGeom prst="rect">
            <a:avLst/>
          </a:prstGeom>
          <a:solidFill>
            <a:srgbClr val="F59E0B"/>
          </a:solidFill>
          <a:ln/>
        </p:spPr>
      </p:sp>
      <p:sp>
        <p:nvSpPr>
          <p:cNvPr id="29" name="Text 27"/>
          <p:cNvSpPr/>
          <p:nvPr/>
        </p:nvSpPr>
        <p:spPr>
          <a:xfrm>
            <a:off x="685800" y="3657600"/>
            <a:ext cx="45720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H3</a:t>
            </a:r>
            <a:endParaRPr lang="en-US" sz="1000" dirty="0"/>
          </a:p>
        </p:txBody>
      </p:sp>
      <p:sp>
        <p:nvSpPr>
          <p:cNvPr id="30" name="Text 28"/>
          <p:cNvSpPr/>
          <p:nvPr/>
        </p:nvSpPr>
        <p:spPr>
          <a:xfrm>
            <a:off x="1280160" y="3639312"/>
            <a:ext cx="640080" cy="320040"/>
          </a:xfrm>
          <a:prstGeom prst="rect">
            <a:avLst/>
          </a:prstGeom>
          <a:noFill/>
          <a:ln/>
        </p:spPr>
        <p:txBody>
          <a:bodyPr wrap="square" lIns="0" tIns="0" rIns="0" bIns="0" rtlCol="0" anchor="ctr"/>
          <a:lstStyle/>
          <a:p>
            <a:pPr indent="0" marL="0">
              <a:buNone/>
            </a:pPr>
            <a:r>
              <a:rPr lang="en-US" sz="1300" b="1" dirty="0">
                <a:solidFill>
                  <a:srgbClr val="667EEA"/>
                </a:solidFill>
                <a:latin typeface="Consolas" pitchFamily="34" charset="0"/>
                <a:ea typeface="Consolas" pitchFamily="34" charset="-122"/>
                <a:cs typeface="Consolas" pitchFamily="34" charset="-120"/>
              </a:rPr>
              <a:t>#646</a:t>
            </a:r>
            <a:endParaRPr lang="en-US" sz="1300" dirty="0"/>
          </a:p>
        </p:txBody>
      </p:sp>
      <p:sp>
        <p:nvSpPr>
          <p:cNvPr id="31" name="Text 29"/>
          <p:cNvSpPr/>
          <p:nvPr/>
        </p:nvSpPr>
        <p:spPr>
          <a:xfrm>
            <a:off x="2011680" y="3639312"/>
            <a:ext cx="5029200" cy="32004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Migration, soul plumbing, work windows</a:t>
            </a:r>
            <a:endParaRPr lang="en-US" sz="1300" dirty="0"/>
          </a:p>
        </p:txBody>
      </p:sp>
      <p:sp>
        <p:nvSpPr>
          <p:cNvPr id="32" name="Text 30"/>
          <p:cNvSpPr/>
          <p:nvPr/>
        </p:nvSpPr>
        <p:spPr>
          <a:xfrm>
            <a:off x="7223760" y="3639312"/>
            <a:ext cx="1188720" cy="320040"/>
          </a:xfrm>
          <a:prstGeom prst="rect">
            <a:avLst/>
          </a:prstGeom>
          <a:noFill/>
          <a:ln/>
        </p:spPr>
        <p:txBody>
          <a:bodyPr wrap="square" lIns="0" tIns="0" rIns="0" bIns="0" rtlCol="0" anchor="ctr"/>
          <a:lstStyle/>
          <a:p>
            <a:pPr algn="r" indent="0" marL="0">
              <a:buNone/>
            </a:pPr>
            <a:r>
              <a:rPr lang="en-US" sz="1300" dirty="0">
                <a:solidFill>
                  <a:srgbClr val="64748B"/>
                </a:solidFill>
                <a:latin typeface="Consolas" pitchFamily="34" charset="0"/>
                <a:ea typeface="Consolas" pitchFamily="34" charset="-122"/>
                <a:cs typeface="Consolas" pitchFamily="34" charset="-120"/>
              </a:rPr>
              <a:t>+111</a:t>
            </a:r>
            <a:endParaRPr lang="en-US" sz="1300" dirty="0"/>
          </a:p>
        </p:txBody>
      </p:sp>
      <p:sp>
        <p:nvSpPr>
          <p:cNvPr id="33" name="Shape 31"/>
          <p:cNvSpPr/>
          <p:nvPr/>
        </p:nvSpPr>
        <p:spPr>
          <a:xfrm>
            <a:off x="548640" y="4160520"/>
            <a:ext cx="8046720" cy="475488"/>
          </a:xfrm>
          <a:prstGeom prst="rect">
            <a:avLst/>
          </a:prstGeom>
          <a:solidFill>
            <a:srgbClr val="F4F6FA"/>
          </a:solidFill>
          <a:ln/>
        </p:spPr>
      </p:sp>
      <p:sp>
        <p:nvSpPr>
          <p:cNvPr id="34" name="Shape 32"/>
          <p:cNvSpPr/>
          <p:nvPr/>
        </p:nvSpPr>
        <p:spPr>
          <a:xfrm>
            <a:off x="685800" y="4251960"/>
            <a:ext cx="457200" cy="292608"/>
          </a:xfrm>
          <a:prstGeom prst="rect">
            <a:avLst/>
          </a:prstGeom>
          <a:solidFill>
            <a:srgbClr val="F59E0B"/>
          </a:solidFill>
          <a:ln/>
        </p:spPr>
      </p:sp>
      <p:sp>
        <p:nvSpPr>
          <p:cNvPr id="35" name="Text 33"/>
          <p:cNvSpPr/>
          <p:nvPr/>
        </p:nvSpPr>
        <p:spPr>
          <a:xfrm>
            <a:off x="685800" y="4251960"/>
            <a:ext cx="45720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H3</a:t>
            </a:r>
            <a:endParaRPr lang="en-US" sz="1000" dirty="0"/>
          </a:p>
        </p:txBody>
      </p:sp>
      <p:sp>
        <p:nvSpPr>
          <p:cNvPr id="36" name="Text 34"/>
          <p:cNvSpPr/>
          <p:nvPr/>
        </p:nvSpPr>
        <p:spPr>
          <a:xfrm>
            <a:off x="1280160" y="4233672"/>
            <a:ext cx="640080" cy="320040"/>
          </a:xfrm>
          <a:prstGeom prst="rect">
            <a:avLst/>
          </a:prstGeom>
          <a:noFill/>
          <a:ln/>
        </p:spPr>
        <p:txBody>
          <a:bodyPr wrap="square" lIns="0" tIns="0" rIns="0" bIns="0" rtlCol="0" anchor="ctr"/>
          <a:lstStyle/>
          <a:p>
            <a:pPr indent="0" marL="0">
              <a:buNone/>
            </a:pPr>
            <a:r>
              <a:rPr lang="en-US" sz="1300" b="1" dirty="0">
                <a:solidFill>
                  <a:srgbClr val="667EEA"/>
                </a:solidFill>
                <a:latin typeface="Consolas" pitchFamily="34" charset="0"/>
                <a:ea typeface="Consolas" pitchFamily="34" charset="-122"/>
                <a:cs typeface="Consolas" pitchFamily="34" charset="-120"/>
              </a:rPr>
              <a:t>#647</a:t>
            </a:r>
            <a:endParaRPr lang="en-US" sz="1300" dirty="0"/>
          </a:p>
        </p:txBody>
      </p:sp>
      <p:sp>
        <p:nvSpPr>
          <p:cNvPr id="37" name="Text 35"/>
          <p:cNvSpPr/>
          <p:nvPr/>
        </p:nvSpPr>
        <p:spPr>
          <a:xfrm>
            <a:off x="2011680" y="4233672"/>
            <a:ext cx="5029200" cy="32004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Agent manifest — 13 actions, 3 paths</a:t>
            </a:r>
            <a:endParaRPr lang="en-US" sz="1300" dirty="0"/>
          </a:p>
        </p:txBody>
      </p:sp>
      <p:sp>
        <p:nvSpPr>
          <p:cNvPr id="38" name="Text 36"/>
          <p:cNvSpPr/>
          <p:nvPr/>
        </p:nvSpPr>
        <p:spPr>
          <a:xfrm>
            <a:off x="7223760" y="4233672"/>
            <a:ext cx="1188720" cy="320040"/>
          </a:xfrm>
          <a:prstGeom prst="rect">
            <a:avLst/>
          </a:prstGeom>
          <a:noFill/>
          <a:ln/>
        </p:spPr>
        <p:txBody>
          <a:bodyPr wrap="square" lIns="0" tIns="0" rIns="0" bIns="0" rtlCol="0" anchor="ctr"/>
          <a:lstStyle/>
          <a:p>
            <a:pPr algn="r" indent="0" marL="0">
              <a:buNone/>
            </a:pPr>
            <a:r>
              <a:rPr lang="en-US" sz="1300" dirty="0">
                <a:solidFill>
                  <a:srgbClr val="64748B"/>
                </a:solidFill>
                <a:latin typeface="Consolas" pitchFamily="34" charset="0"/>
                <a:ea typeface="Consolas" pitchFamily="34" charset="-122"/>
                <a:cs typeface="Consolas" pitchFamily="34" charset="-120"/>
              </a:rPr>
              <a:t>+393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0B981"/>
          </a:solidFill>
          <a:ln/>
        </p:spPr>
      </p:sp>
      <p:sp>
        <p:nvSpPr>
          <p:cNvPr id="3" name="Text 1"/>
          <p:cNvSpPr/>
          <p:nvPr/>
        </p:nvSpPr>
        <p:spPr>
          <a:xfrm>
            <a:off x="548640" y="13716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Horizon 1 — Foundation</a:t>
            </a:r>
            <a:endParaRPr lang="en-US" sz="2600" dirty="0"/>
          </a:p>
        </p:txBody>
      </p:sp>
      <p:sp>
        <p:nvSpPr>
          <p:cNvPr id="4" name="Shape 2"/>
          <p:cNvSpPr/>
          <p:nvPr/>
        </p:nvSpPr>
        <p:spPr>
          <a:xfrm>
            <a:off x="548640" y="1051560"/>
            <a:ext cx="8046720" cy="530352"/>
          </a:xfrm>
          <a:prstGeom prst="rect">
            <a:avLst/>
          </a:prstGeom>
          <a:solidFill>
            <a:srgbClr val="F4F6FA"/>
          </a:solidFill>
          <a:ln/>
        </p:spPr>
      </p:sp>
      <p:sp>
        <p:nvSpPr>
          <p:cNvPr id="5" name="Text 3"/>
          <p:cNvSpPr/>
          <p:nvPr/>
        </p:nvSpPr>
        <p:spPr>
          <a:xfrm>
            <a:off x="731520" y="1106424"/>
            <a:ext cx="2743200" cy="201168"/>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Data Intelligence Pipeline</a:t>
            </a:r>
            <a:endParaRPr lang="en-US" sz="1200" dirty="0"/>
          </a:p>
        </p:txBody>
      </p:sp>
      <p:sp>
        <p:nvSpPr>
          <p:cNvPr id="6" name="Text 4"/>
          <p:cNvSpPr/>
          <p:nvPr/>
        </p:nvSpPr>
        <p:spPr>
          <a:xfrm>
            <a:off x="731520" y="1325880"/>
            <a:ext cx="7680960" cy="20116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ActivityEvent + UserInsight models, events/insights routers, 12 client event sources</a:t>
            </a:r>
            <a:endParaRPr lang="en-US" sz="1000" dirty="0"/>
          </a:p>
        </p:txBody>
      </p:sp>
      <p:sp>
        <p:nvSpPr>
          <p:cNvPr id="7" name="Shape 5"/>
          <p:cNvSpPr/>
          <p:nvPr/>
        </p:nvSpPr>
        <p:spPr>
          <a:xfrm>
            <a:off x="548640" y="1691640"/>
            <a:ext cx="8046720" cy="530352"/>
          </a:xfrm>
          <a:prstGeom prst="rect">
            <a:avLst/>
          </a:prstGeom>
          <a:solidFill>
            <a:srgbClr val="F4F6FA"/>
          </a:solidFill>
          <a:ln/>
        </p:spPr>
      </p:sp>
      <p:sp>
        <p:nvSpPr>
          <p:cNvPr id="8" name="Text 6"/>
          <p:cNvSpPr/>
          <p:nvPr/>
        </p:nvSpPr>
        <p:spPr>
          <a:xfrm>
            <a:off x="731520" y="1746504"/>
            <a:ext cx="2743200" cy="201168"/>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AI Content Privacy</a:t>
            </a:r>
            <a:endParaRPr lang="en-US" sz="1200" dirty="0"/>
          </a:p>
        </p:txBody>
      </p:sp>
      <p:sp>
        <p:nvSpPr>
          <p:cNvPr id="9" name="Text 7"/>
          <p:cNvSpPr/>
          <p:nvPr/>
        </p:nvSpPr>
        <p:spPr>
          <a:xfrm>
            <a:off x="731520" y="1965960"/>
            <a:ext cx="7680960" cy="20116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contentSanitizer.ts — redacts emails, phones, secrets, SSNs, cards, URLs before all AI calls</a:t>
            </a:r>
            <a:endParaRPr lang="en-US" sz="1000" dirty="0"/>
          </a:p>
        </p:txBody>
      </p:sp>
      <p:sp>
        <p:nvSpPr>
          <p:cNvPr id="10" name="Shape 8"/>
          <p:cNvSpPr/>
          <p:nvPr/>
        </p:nvSpPr>
        <p:spPr>
          <a:xfrm>
            <a:off x="548640" y="2331720"/>
            <a:ext cx="8046720" cy="530352"/>
          </a:xfrm>
          <a:prstGeom prst="rect">
            <a:avLst/>
          </a:prstGeom>
          <a:solidFill>
            <a:srgbClr val="F4F6FA"/>
          </a:solidFill>
          <a:ln/>
        </p:spPr>
      </p:sp>
      <p:sp>
        <p:nvSpPr>
          <p:cNvPr id="11" name="Text 9"/>
          <p:cNvSpPr/>
          <p:nvPr/>
        </p:nvSpPr>
        <p:spPr>
          <a:xfrm>
            <a:off x="731520" y="2386584"/>
            <a:ext cx="2743200" cy="201168"/>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Calendar Export</a:t>
            </a:r>
            <a:endParaRPr lang="en-US" sz="1200" dirty="0"/>
          </a:p>
        </p:txBody>
      </p:sp>
      <p:sp>
        <p:nvSpPr>
          <p:cNvPr id="12" name="Text 10"/>
          <p:cNvSpPr/>
          <p:nvPr/>
        </p:nvSpPr>
        <p:spPr>
          <a:xfrm>
            <a:off x="731520" y="2606040"/>
            <a:ext cx="7680960" cy="20116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GET /calendar/export.ics — RFC 5545 ICS from user todos with due dates</a:t>
            </a:r>
            <a:endParaRPr lang="en-US" sz="1000" dirty="0"/>
          </a:p>
        </p:txBody>
      </p:sp>
      <p:sp>
        <p:nvSpPr>
          <p:cNvPr id="13" name="Shape 11"/>
          <p:cNvSpPr/>
          <p:nvPr/>
        </p:nvSpPr>
        <p:spPr>
          <a:xfrm>
            <a:off x="548640" y="2971800"/>
            <a:ext cx="8046720" cy="530352"/>
          </a:xfrm>
          <a:prstGeom prst="rect">
            <a:avLst/>
          </a:prstGeom>
          <a:solidFill>
            <a:srgbClr val="F4F6FA"/>
          </a:solidFill>
          <a:ln/>
        </p:spPr>
      </p:sp>
      <p:sp>
        <p:nvSpPr>
          <p:cNvPr id="14" name="Text 12"/>
          <p:cNvSpPr/>
          <p:nvPr/>
        </p:nvSpPr>
        <p:spPr>
          <a:xfrm>
            <a:off x="731520" y="3026664"/>
            <a:ext cx="2743200" cy="201168"/>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Insights UI Card</a:t>
            </a:r>
            <a:endParaRPr lang="en-US" sz="1200" dirty="0"/>
          </a:p>
        </p:txBody>
      </p:sp>
      <p:sp>
        <p:nvSpPr>
          <p:cNvPr id="15" name="Text 13"/>
          <p:cNvSpPr/>
          <p:nvPr/>
        </p:nvSpPr>
        <p:spPr>
          <a:xfrm>
            <a:off x="731520" y="3246120"/>
            <a:ext cx="7680960" cy="20116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"Your Week" dashboard — completion rate, streak, commit ratio, stale count</a:t>
            </a:r>
            <a:endParaRPr lang="en-US" sz="1000" dirty="0"/>
          </a:p>
        </p:txBody>
      </p:sp>
      <p:sp>
        <p:nvSpPr>
          <p:cNvPr id="16" name="Shape 14"/>
          <p:cNvSpPr/>
          <p:nvPr/>
        </p:nvSpPr>
        <p:spPr>
          <a:xfrm>
            <a:off x="548640" y="3611880"/>
            <a:ext cx="8046720" cy="530352"/>
          </a:xfrm>
          <a:prstGeom prst="rect">
            <a:avLst/>
          </a:prstGeom>
          <a:solidFill>
            <a:srgbClr val="F4F6FA"/>
          </a:solidFill>
          <a:ln/>
        </p:spPr>
      </p:sp>
      <p:sp>
        <p:nvSpPr>
          <p:cNvPr id="17" name="Text 15"/>
          <p:cNvSpPr/>
          <p:nvPr/>
        </p:nvSpPr>
        <p:spPr>
          <a:xfrm>
            <a:off x="731520" y="3666744"/>
            <a:ext cx="2743200" cy="201168"/>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Agent Runner Job</a:t>
            </a:r>
            <a:endParaRPr lang="en-US" sz="1200" dirty="0"/>
          </a:p>
        </p:txBody>
      </p:sp>
      <p:sp>
        <p:nvSpPr>
          <p:cNvPr id="18" name="Text 16"/>
          <p:cNvSpPr/>
          <p:nvPr/>
        </p:nvSpPr>
        <p:spPr>
          <a:xfrm>
            <a:off x="731520" y="3886200"/>
            <a:ext cx="7680960" cy="20116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compute_insights job with safe-apply policy, post_api() on AgentClient</a:t>
            </a:r>
            <a:endParaRPr lang="en-US" sz="1000" dirty="0"/>
          </a:p>
        </p:txBody>
      </p:sp>
      <p:sp>
        <p:nvSpPr>
          <p:cNvPr id="19" name="Shape 17"/>
          <p:cNvSpPr/>
          <p:nvPr/>
        </p:nvSpPr>
        <p:spPr>
          <a:xfrm>
            <a:off x="548640" y="4251960"/>
            <a:ext cx="8046720" cy="530352"/>
          </a:xfrm>
          <a:prstGeom prst="rect">
            <a:avLst/>
          </a:prstGeom>
          <a:solidFill>
            <a:srgbClr val="F4F6FA"/>
          </a:solidFill>
          <a:ln/>
        </p:spPr>
      </p:sp>
      <p:sp>
        <p:nvSpPr>
          <p:cNvPr id="20" name="Text 18"/>
          <p:cNvSpPr/>
          <p:nvPr/>
        </p:nvSpPr>
        <p:spPr>
          <a:xfrm>
            <a:off x="731520" y="4306824"/>
            <a:ext cx="2743200" cy="201168"/>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Integration Tests</a:t>
            </a:r>
            <a:endParaRPr lang="en-US" sz="1200" dirty="0"/>
          </a:p>
        </p:txBody>
      </p:sp>
      <p:sp>
        <p:nvSpPr>
          <p:cNvPr id="21" name="Text 19"/>
          <p:cNvSpPr/>
          <p:nvPr/>
        </p:nvSpPr>
        <p:spPr>
          <a:xfrm>
            <a:off x="731520" y="4526280"/>
            <a:ext cx="7680960" cy="20116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10 tests for POST /events/batch, GET /insights, POST /insights/compute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667EEA"/>
          </a:solidFill>
          <a:ln/>
        </p:spPr>
      </p:sp>
      <p:sp>
        <p:nvSpPr>
          <p:cNvPr id="3" name="Text 1"/>
          <p:cNvSpPr/>
          <p:nvPr/>
        </p:nvSpPr>
        <p:spPr>
          <a:xfrm>
            <a:off x="548640" y="13716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Horizon 2 — Close the Loop</a:t>
            </a:r>
            <a:endParaRPr lang="en-US" sz="2600" dirty="0"/>
          </a:p>
        </p:txBody>
      </p:sp>
      <p:sp>
        <p:nvSpPr>
          <p:cNvPr id="4" name="Shape 2"/>
          <p:cNvSpPr/>
          <p:nvPr/>
        </p:nvSpPr>
        <p:spPr>
          <a:xfrm>
            <a:off x="548640" y="1051560"/>
            <a:ext cx="8046720" cy="640080"/>
          </a:xfrm>
          <a:prstGeom prst="rect">
            <a:avLst/>
          </a:prstGeom>
          <a:solidFill>
            <a:srgbClr val="F4F6FA"/>
          </a:solidFill>
          <a:ln/>
        </p:spPr>
      </p:sp>
      <p:sp>
        <p:nvSpPr>
          <p:cNvPr id="5" name="Text 3"/>
          <p:cNvSpPr/>
          <p:nvPr/>
        </p:nvSpPr>
        <p:spPr>
          <a:xfrm>
            <a:off x="731520" y="1124712"/>
            <a:ext cx="2743200" cy="219456"/>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Feedback Loop</a:t>
            </a:r>
            <a:endParaRPr lang="en-US" sz="1300" dirty="0"/>
          </a:p>
        </p:txBody>
      </p:sp>
      <p:sp>
        <p:nvSpPr>
          <p:cNvPr id="6" name="Text 4"/>
          <p:cNvSpPr/>
          <p:nvPr/>
        </p:nvSpPr>
        <p:spPr>
          <a:xfrm>
            <a:off x="731520" y="1380744"/>
            <a:ext cx="7680960" cy="219456"/>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EstimateFit + Freshness weights, batch feedback adjustments in all 3 scorePlan() consumers</a:t>
            </a:r>
            <a:endParaRPr lang="en-US" sz="1050" dirty="0"/>
          </a:p>
        </p:txBody>
      </p:sp>
      <p:sp>
        <p:nvSpPr>
          <p:cNvPr id="7" name="Shape 5"/>
          <p:cNvSpPr/>
          <p:nvPr/>
        </p:nvSpPr>
        <p:spPr>
          <a:xfrm>
            <a:off x="548640" y="1801368"/>
            <a:ext cx="8046720" cy="640080"/>
          </a:xfrm>
          <a:prstGeom prst="rect">
            <a:avLst/>
          </a:prstGeom>
          <a:solidFill>
            <a:srgbClr val="F4F6FA"/>
          </a:solidFill>
          <a:ln/>
        </p:spPr>
      </p:sp>
      <p:sp>
        <p:nvSpPr>
          <p:cNvPr id="8" name="Text 6"/>
          <p:cNvSpPr/>
          <p:nvPr/>
        </p:nvSpPr>
        <p:spPr>
          <a:xfrm>
            <a:off x="731520" y="1874520"/>
            <a:ext cx="2743200" cy="219456"/>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Insights → Scoring</a:t>
            </a:r>
            <a:endParaRPr lang="en-US" sz="1300" dirty="0"/>
          </a:p>
        </p:txBody>
      </p:sp>
      <p:sp>
        <p:nvSpPr>
          <p:cNvPr id="9" name="Text 7"/>
          <p:cNvSpPr/>
          <p:nvPr/>
        </p:nvSpPr>
        <p:spPr>
          <a:xfrm>
            <a:off x="731520" y="2130552"/>
            <a:ext cx="7680960" cy="219456"/>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Overcommit budget reduction, streak/stale boosts in plan_today and simulate_plan</a:t>
            </a:r>
            <a:endParaRPr lang="en-US" sz="1050" dirty="0"/>
          </a:p>
        </p:txBody>
      </p:sp>
      <p:sp>
        <p:nvSpPr>
          <p:cNvPr id="10" name="Shape 8"/>
          <p:cNvSpPr/>
          <p:nvPr/>
        </p:nvSpPr>
        <p:spPr>
          <a:xfrm>
            <a:off x="548640" y="2551176"/>
            <a:ext cx="8046720" cy="640080"/>
          </a:xfrm>
          <a:prstGeom prst="rect">
            <a:avLst/>
          </a:prstGeom>
          <a:solidFill>
            <a:srgbClr val="F4F6FA"/>
          </a:solidFill>
          <a:ln/>
        </p:spPr>
      </p:sp>
      <p:sp>
        <p:nvSpPr>
          <p:cNvPr id="11" name="Text 9"/>
          <p:cNvSpPr/>
          <p:nvPr/>
        </p:nvSpPr>
        <p:spPr>
          <a:xfrm>
            <a:off x="731520" y="2624328"/>
            <a:ext cx="2743200" cy="219456"/>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Goal Alignment</a:t>
            </a:r>
            <a:endParaRPr lang="en-US" sz="1300" dirty="0"/>
          </a:p>
        </p:txBody>
      </p:sp>
      <p:sp>
        <p:nvSpPr>
          <p:cNvPr id="12" name="Text 10"/>
          <p:cNvSpPr/>
          <p:nvPr/>
        </p:nvSpPr>
        <p:spPr>
          <a:xfrm>
            <a:off x="731520" y="2880360"/>
            <a:ext cx="7680960" cy="219456"/>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+12/+9 direct/inherited goal boost, +8/+6 urgency — both scoring paths</a:t>
            </a:r>
            <a:endParaRPr lang="en-US" sz="1050" dirty="0"/>
          </a:p>
        </p:txBody>
      </p:sp>
      <p:sp>
        <p:nvSpPr>
          <p:cNvPr id="13" name="Shape 11"/>
          <p:cNvSpPr/>
          <p:nvPr/>
        </p:nvSpPr>
        <p:spPr>
          <a:xfrm>
            <a:off x="548640" y="3300984"/>
            <a:ext cx="8046720" cy="640080"/>
          </a:xfrm>
          <a:prstGeom prst="rect">
            <a:avLst/>
          </a:prstGeom>
          <a:solidFill>
            <a:srgbClr val="F4F6FA"/>
          </a:solidFill>
          <a:ln/>
        </p:spPr>
      </p:sp>
      <p:sp>
        <p:nvSpPr>
          <p:cNvPr id="14" name="Text 12"/>
          <p:cNvSpPr/>
          <p:nvPr/>
        </p:nvSpPr>
        <p:spPr>
          <a:xfrm>
            <a:off x="731520" y="3374136"/>
            <a:ext cx="2743200" cy="219456"/>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Task Reminders</a:t>
            </a:r>
            <a:endParaRPr lang="en-US" sz="1300" dirty="0"/>
          </a:p>
        </p:txBody>
      </p:sp>
      <p:sp>
        <p:nvSpPr>
          <p:cNvPr id="15" name="Text 13"/>
          <p:cNvSpPr/>
          <p:nvPr/>
        </p:nvSpPr>
        <p:spPr>
          <a:xfrm>
            <a:off x="731520" y="3630168"/>
            <a:ext cx="7680960" cy="219456"/>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Email digest with timezone-aware 7 AM gate, full action registration (6 points)</a:t>
            </a:r>
            <a:endParaRPr lang="en-US" sz="1050" dirty="0"/>
          </a:p>
        </p:txBody>
      </p:sp>
      <p:sp>
        <p:nvSpPr>
          <p:cNvPr id="16" name="Shape 14"/>
          <p:cNvSpPr/>
          <p:nvPr/>
        </p:nvSpPr>
        <p:spPr>
          <a:xfrm>
            <a:off x="548640" y="4050792"/>
            <a:ext cx="8046720" cy="640080"/>
          </a:xfrm>
          <a:prstGeom prst="rect">
            <a:avLst/>
          </a:prstGeom>
          <a:solidFill>
            <a:srgbClr val="F4F6FA"/>
          </a:solidFill>
          <a:ln/>
        </p:spPr>
      </p:sp>
      <p:sp>
        <p:nvSpPr>
          <p:cNvPr id="17" name="Text 15"/>
          <p:cNvSpPr/>
          <p:nvPr/>
        </p:nvSpPr>
        <p:spPr>
          <a:xfrm>
            <a:off x="731520" y="4123944"/>
            <a:ext cx="2743200" cy="219456"/>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Offline Queue</a:t>
            </a:r>
            <a:endParaRPr lang="en-US" sz="1300" dirty="0"/>
          </a:p>
        </p:txBody>
      </p:sp>
      <p:sp>
        <p:nvSpPr>
          <p:cNvPr id="18" name="Text 16"/>
          <p:cNvSpPr/>
          <p:nvPr/>
        </p:nvSpPr>
        <p:spPr>
          <a:xfrm>
            <a:off x="731520" y="4379976"/>
            <a:ext cx="7680960" cy="219456"/>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Service worker mutation interception, Background Sync replay, synthetic JSON response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59E0B"/>
          </a:solidFill>
          <a:ln/>
        </p:spPr>
      </p:sp>
      <p:sp>
        <p:nvSpPr>
          <p:cNvPr id="3" name="Text 1"/>
          <p:cNvSpPr/>
          <p:nvPr/>
        </p:nvSpPr>
        <p:spPr>
          <a:xfrm>
            <a:off x="548640" y="13716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Horizon 3 — Life OS Foundation</a:t>
            </a:r>
            <a:endParaRPr lang="en-US" sz="2600" dirty="0"/>
          </a:p>
        </p:txBody>
      </p:sp>
      <p:sp>
        <p:nvSpPr>
          <p:cNvPr id="4" name="Shape 2"/>
          <p:cNvSpPr/>
          <p:nvPr/>
        </p:nvSpPr>
        <p:spPr>
          <a:xfrm>
            <a:off x="548640" y="1051560"/>
            <a:ext cx="8046720" cy="530352"/>
          </a:xfrm>
          <a:prstGeom prst="rect">
            <a:avLst/>
          </a:prstGeom>
          <a:solidFill>
            <a:srgbClr val="F4F6FA"/>
          </a:solidFill>
          <a:ln/>
        </p:spPr>
      </p:sp>
      <p:sp>
        <p:nvSpPr>
          <p:cNvPr id="5" name="Text 3"/>
          <p:cNvSpPr/>
          <p:nvPr/>
        </p:nvSpPr>
        <p:spPr>
          <a:xfrm>
            <a:off x="731520" y="1106424"/>
            <a:ext cx="2926080" cy="201168"/>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Areas &amp; Goals CRUD</a:t>
            </a:r>
            <a:endParaRPr lang="en-US" sz="1200" dirty="0"/>
          </a:p>
        </p:txBody>
      </p:sp>
      <p:sp>
        <p:nvSpPr>
          <p:cNvPr id="6" name="Text 4"/>
          <p:cNvSpPr/>
          <p:nvPr/>
        </p:nvSpPr>
        <p:spPr>
          <a:xfrm>
            <a:off x="731520" y="1325880"/>
            <a:ext cx="7680960" cy="20116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8 agent actions, MCP scopes, REST endpoints, full READ_ONLY_ACTIONS registration</a:t>
            </a:r>
            <a:endParaRPr lang="en-US" sz="1000" dirty="0"/>
          </a:p>
        </p:txBody>
      </p:sp>
      <p:sp>
        <p:nvSpPr>
          <p:cNvPr id="7" name="Shape 5"/>
          <p:cNvSpPr/>
          <p:nvPr/>
        </p:nvSpPr>
        <p:spPr>
          <a:xfrm>
            <a:off x="548640" y="1691640"/>
            <a:ext cx="8046720" cy="530352"/>
          </a:xfrm>
          <a:prstGeom prst="rect">
            <a:avLst/>
          </a:prstGeom>
          <a:solidFill>
            <a:srgbClr val="F4F6FA"/>
          </a:solidFill>
          <a:ln/>
        </p:spPr>
      </p:sp>
      <p:sp>
        <p:nvSpPr>
          <p:cNvPr id="8" name="Text 6"/>
          <p:cNvSpPr/>
          <p:nvPr/>
        </p:nvSpPr>
        <p:spPr>
          <a:xfrm>
            <a:off x="731520" y="1746504"/>
            <a:ext cx="2926080" cy="201168"/>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Soul Profile Activation</a:t>
            </a:r>
            <a:endParaRPr lang="en-US" sz="1200" dirty="0"/>
          </a:p>
        </p:txBody>
      </p:sp>
      <p:sp>
        <p:nvSpPr>
          <p:cNvPr id="9" name="Text 7"/>
          <p:cNvSpPr/>
          <p:nvPr/>
        </p:nvSpPr>
        <p:spPr>
          <a:xfrm>
            <a:off x="731520" y="1965960"/>
            <a:ext cx="7680960" cy="20116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energyPattern, planningStyle, goodDayThemes wired through scorePlan + DecisionEngine</a:t>
            </a:r>
            <a:endParaRPr lang="en-US" sz="1000" dirty="0"/>
          </a:p>
        </p:txBody>
      </p:sp>
      <p:sp>
        <p:nvSpPr>
          <p:cNvPr id="10" name="Shape 8"/>
          <p:cNvSpPr/>
          <p:nvPr/>
        </p:nvSpPr>
        <p:spPr>
          <a:xfrm>
            <a:off x="548640" y="2331720"/>
            <a:ext cx="8046720" cy="530352"/>
          </a:xfrm>
          <a:prstGeom prst="rect">
            <a:avLst/>
          </a:prstGeom>
          <a:solidFill>
            <a:srgbClr val="F4F6FA"/>
          </a:solidFill>
          <a:ln/>
        </p:spPr>
      </p:sp>
      <p:sp>
        <p:nvSpPr>
          <p:cNvPr id="11" name="Text 9"/>
          <p:cNvSpPr/>
          <p:nvPr/>
        </p:nvSpPr>
        <p:spPr>
          <a:xfrm>
            <a:off x="731520" y="2386584"/>
            <a:ext cx="2926080" cy="201168"/>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Routines Detection</a:t>
            </a:r>
            <a:endParaRPr lang="en-US" sz="1200" dirty="0"/>
          </a:p>
        </p:txBody>
      </p:sp>
      <p:sp>
        <p:nvSpPr>
          <p:cNvPr id="12" name="Text 10"/>
          <p:cNvSpPr/>
          <p:nvPr/>
        </p:nvSpPr>
        <p:spPr>
          <a:xfrm>
            <a:off x="731520" y="2606040"/>
            <a:ext cx="7680960" cy="20116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Groups recurring tasks by pattern, GET /todos/routines, list_routines agent action</a:t>
            </a:r>
            <a:endParaRPr lang="en-US" sz="1000" dirty="0"/>
          </a:p>
        </p:txBody>
      </p:sp>
      <p:sp>
        <p:nvSpPr>
          <p:cNvPr id="13" name="Shape 11"/>
          <p:cNvSpPr/>
          <p:nvPr/>
        </p:nvSpPr>
        <p:spPr>
          <a:xfrm>
            <a:off x="548640" y="2971800"/>
            <a:ext cx="8046720" cy="530352"/>
          </a:xfrm>
          <a:prstGeom prst="rect">
            <a:avLst/>
          </a:prstGeom>
          <a:solidFill>
            <a:srgbClr val="F4F6FA"/>
          </a:solidFill>
          <a:ln/>
        </p:spPr>
      </p:sp>
      <p:sp>
        <p:nvSpPr>
          <p:cNvPr id="14" name="Text 12"/>
          <p:cNvSpPr/>
          <p:nvPr/>
        </p:nvSpPr>
        <p:spPr>
          <a:xfrm>
            <a:off x="731520" y="3026664"/>
            <a:ext cx="2926080" cy="201168"/>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Morning Brief</a:t>
            </a:r>
            <a:endParaRPr lang="en-US" sz="1200" dirty="0"/>
          </a:p>
        </p:txBody>
      </p:sp>
      <p:sp>
        <p:nvSpPr>
          <p:cNvPr id="15" name="Text 13"/>
          <p:cNvSpPr/>
          <p:nvPr/>
        </p:nvSpPr>
        <p:spPr>
          <a:xfrm>
            <a:off x="731520" y="3246120"/>
            <a:ext cx="7680960" cy="20116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AiPlannerService.generateMorningBrief() with deterministic fallback, runner job</a:t>
            </a:r>
            <a:endParaRPr lang="en-US" sz="1000" dirty="0"/>
          </a:p>
        </p:txBody>
      </p:sp>
      <p:sp>
        <p:nvSpPr>
          <p:cNvPr id="16" name="Shape 14"/>
          <p:cNvSpPr/>
          <p:nvPr/>
        </p:nvSpPr>
        <p:spPr>
          <a:xfrm>
            <a:off x="548640" y="3611880"/>
            <a:ext cx="8046720" cy="530352"/>
          </a:xfrm>
          <a:prstGeom prst="rect">
            <a:avLst/>
          </a:prstGeom>
          <a:solidFill>
            <a:srgbClr val="F4F6FA"/>
          </a:solidFill>
          <a:ln/>
        </p:spPr>
      </p:sp>
      <p:sp>
        <p:nvSpPr>
          <p:cNvPr id="17" name="Text 15"/>
          <p:cNvSpPr/>
          <p:nvPr/>
        </p:nvSpPr>
        <p:spPr>
          <a:xfrm>
            <a:off x="731520" y="3666744"/>
            <a:ext cx="2926080" cy="201168"/>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Project Health Intervention</a:t>
            </a:r>
            <a:endParaRPr lang="en-US" sz="1200" dirty="0"/>
          </a:p>
        </p:txBody>
      </p:sp>
      <p:sp>
        <p:nvSpPr>
          <p:cNvPr id="18" name="Text 16"/>
          <p:cNvSpPr/>
          <p:nvPr/>
        </p:nvSpPr>
        <p:spPr>
          <a:xfrm>
            <a:off x="731520" y="3886200"/>
            <a:ext cx="7680960" cy="20116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Auto-breakdown stale tasks, config gate + score threshold + circuit breaker + audit</a:t>
            </a:r>
            <a:endParaRPr lang="en-US" sz="1000" dirty="0"/>
          </a:p>
        </p:txBody>
      </p:sp>
      <p:sp>
        <p:nvSpPr>
          <p:cNvPr id="19" name="Shape 17"/>
          <p:cNvSpPr/>
          <p:nvPr/>
        </p:nvSpPr>
        <p:spPr>
          <a:xfrm>
            <a:off x="548640" y="4251960"/>
            <a:ext cx="8046720" cy="530352"/>
          </a:xfrm>
          <a:prstGeom prst="rect">
            <a:avLst/>
          </a:prstGeom>
          <a:solidFill>
            <a:srgbClr val="F4F6FA"/>
          </a:solidFill>
          <a:ln/>
        </p:spPr>
      </p:sp>
      <p:sp>
        <p:nvSpPr>
          <p:cNvPr id="20" name="Text 18"/>
          <p:cNvSpPr/>
          <p:nvPr/>
        </p:nvSpPr>
        <p:spPr>
          <a:xfrm>
            <a:off x="731520" y="4306824"/>
            <a:ext cx="2926080" cy="201168"/>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Privacy Moat</a:t>
            </a:r>
            <a:endParaRPr lang="en-US" sz="1200" dirty="0"/>
          </a:p>
        </p:txBody>
      </p:sp>
      <p:sp>
        <p:nvSpPr>
          <p:cNvPr id="21" name="Text 19"/>
          <p:cNvSpPr/>
          <p:nvPr/>
        </p:nvSpPr>
        <p:spPr>
          <a:xfrm>
            <a:off x="731520" y="4526280"/>
            <a:ext cx="7680960" cy="201168"/>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AI opt-out (aiRouter + executor), GDPR export (1/hr limit), plan cache, data retention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By The Numbers</a:t>
            </a:r>
            <a:endParaRPr lang="en-US" sz="3000" dirty="0"/>
          </a:p>
        </p:txBody>
      </p:sp>
      <p:sp>
        <p:nvSpPr>
          <p:cNvPr id="3" name="Shape 1"/>
          <p:cNvSpPr/>
          <p:nvPr/>
        </p:nvSpPr>
        <p:spPr>
          <a:xfrm>
            <a:off x="731520" y="1280160"/>
            <a:ext cx="2468880" cy="1371600"/>
          </a:xfrm>
          <a:prstGeom prst="rect">
            <a:avLst/>
          </a:prstGeom>
          <a:solidFill>
            <a:srgbClr val="0F172A"/>
          </a:solidFill>
          <a:ln/>
        </p:spPr>
      </p:sp>
      <p:sp>
        <p:nvSpPr>
          <p:cNvPr id="4" name="Text 2"/>
          <p:cNvSpPr/>
          <p:nvPr/>
        </p:nvSpPr>
        <p:spPr>
          <a:xfrm>
            <a:off x="731520" y="1463040"/>
            <a:ext cx="2468880" cy="548640"/>
          </a:xfrm>
          <a:prstGeom prst="rect">
            <a:avLst/>
          </a:prstGeom>
          <a:noFill/>
          <a:ln/>
        </p:spPr>
        <p:txBody>
          <a:bodyPr wrap="square" lIns="0" tIns="0" rIns="0" bIns="0" rtlCol="0" anchor="ctr"/>
          <a:lstStyle/>
          <a:p>
            <a:pPr algn="ctr" indent="0" marL="0">
              <a:buNone/>
            </a:pPr>
            <a:r>
              <a:rPr lang="en-US" sz="4000" b="1" dirty="0">
                <a:solidFill>
                  <a:srgbClr val="667EEA"/>
                </a:solidFill>
                <a:latin typeface="Consolas" pitchFamily="34" charset="0"/>
                <a:ea typeface="Consolas" pitchFamily="34" charset="-122"/>
                <a:cs typeface="Consolas" pitchFamily="34" charset="-120"/>
              </a:rPr>
              <a:t>92</a:t>
            </a:r>
            <a:endParaRPr lang="en-US" sz="4000" dirty="0"/>
          </a:p>
        </p:txBody>
      </p:sp>
      <p:sp>
        <p:nvSpPr>
          <p:cNvPr id="5" name="Text 3"/>
          <p:cNvSpPr/>
          <p:nvPr/>
        </p:nvSpPr>
        <p:spPr>
          <a:xfrm>
            <a:off x="731520" y="2057400"/>
            <a:ext cx="2468880" cy="45720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MCP Actions</a:t>
            </a:r>
            <a:endParaRPr lang="en-US" sz="1100" dirty="0"/>
          </a:p>
          <a:p>
            <a:pPr algn="ctr" indent="0" marL="0">
              <a:buNone/>
            </a:pPr>
            <a:r>
              <a:rPr lang="en-US" sz="1100" dirty="0">
                <a:solidFill>
                  <a:srgbClr val="CADCFC"/>
                </a:solidFill>
                <a:latin typeface="Calibri" pitchFamily="34" charset="0"/>
                <a:ea typeface="Calibri" pitchFamily="34" charset="-122"/>
                <a:cs typeface="Calibri" pitchFamily="34" charset="-120"/>
              </a:rPr>
              <a:t>(was 79)</a:t>
            </a:r>
            <a:endParaRPr lang="en-US" sz="1100" dirty="0"/>
          </a:p>
        </p:txBody>
      </p:sp>
      <p:sp>
        <p:nvSpPr>
          <p:cNvPr id="6" name="Shape 4"/>
          <p:cNvSpPr/>
          <p:nvPr/>
        </p:nvSpPr>
        <p:spPr>
          <a:xfrm>
            <a:off x="3566160" y="1280160"/>
            <a:ext cx="2468880" cy="1371600"/>
          </a:xfrm>
          <a:prstGeom prst="rect">
            <a:avLst/>
          </a:prstGeom>
          <a:solidFill>
            <a:srgbClr val="0F172A"/>
          </a:solidFill>
          <a:ln/>
        </p:spPr>
      </p:sp>
      <p:sp>
        <p:nvSpPr>
          <p:cNvPr id="7" name="Text 5"/>
          <p:cNvSpPr/>
          <p:nvPr/>
        </p:nvSpPr>
        <p:spPr>
          <a:xfrm>
            <a:off x="3566160" y="1463040"/>
            <a:ext cx="2468880" cy="548640"/>
          </a:xfrm>
          <a:prstGeom prst="rect">
            <a:avLst/>
          </a:prstGeom>
          <a:noFill/>
          <a:ln/>
        </p:spPr>
        <p:txBody>
          <a:bodyPr wrap="square" lIns="0" tIns="0" rIns="0" bIns="0" rtlCol="0" anchor="ctr"/>
          <a:lstStyle/>
          <a:p>
            <a:pPr algn="ctr" indent="0" marL="0">
              <a:buNone/>
            </a:pPr>
            <a:r>
              <a:rPr lang="en-US" sz="4000" b="1" dirty="0">
                <a:solidFill>
                  <a:srgbClr val="667EEA"/>
                </a:solidFill>
                <a:latin typeface="Consolas" pitchFamily="34" charset="0"/>
                <a:ea typeface="Consolas" pitchFamily="34" charset="-122"/>
                <a:cs typeface="Consolas" pitchFamily="34" charset="-120"/>
              </a:rPr>
              <a:t>14</a:t>
            </a:r>
            <a:endParaRPr lang="en-US" sz="4000" dirty="0"/>
          </a:p>
        </p:txBody>
      </p:sp>
      <p:sp>
        <p:nvSpPr>
          <p:cNvPr id="8" name="Text 6"/>
          <p:cNvSpPr/>
          <p:nvPr/>
        </p:nvSpPr>
        <p:spPr>
          <a:xfrm>
            <a:off x="3566160" y="2057400"/>
            <a:ext cx="2468880" cy="45720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Agent Runner</a:t>
            </a:r>
            <a:endParaRPr lang="en-US" sz="1100" dirty="0"/>
          </a:p>
          <a:p>
            <a:pPr algn="ctr" indent="0" marL="0">
              <a:buNone/>
            </a:pPr>
            <a:r>
              <a:rPr lang="en-US" sz="1100" dirty="0">
                <a:solidFill>
                  <a:srgbClr val="CADCFC"/>
                </a:solidFill>
                <a:latin typeface="Calibri" pitchFamily="34" charset="0"/>
                <a:ea typeface="Calibri" pitchFamily="34" charset="-122"/>
                <a:cs typeface="Calibri" pitchFamily="34" charset="-120"/>
              </a:rPr>
              <a:t>Jobs</a:t>
            </a:r>
            <a:endParaRPr lang="en-US" sz="1100" dirty="0"/>
          </a:p>
        </p:txBody>
      </p:sp>
      <p:sp>
        <p:nvSpPr>
          <p:cNvPr id="9" name="Shape 7"/>
          <p:cNvSpPr/>
          <p:nvPr/>
        </p:nvSpPr>
        <p:spPr>
          <a:xfrm>
            <a:off x="6400800" y="1280160"/>
            <a:ext cx="2468880" cy="1371600"/>
          </a:xfrm>
          <a:prstGeom prst="rect">
            <a:avLst/>
          </a:prstGeom>
          <a:solidFill>
            <a:srgbClr val="0F172A"/>
          </a:solidFill>
          <a:ln/>
        </p:spPr>
      </p:sp>
      <p:sp>
        <p:nvSpPr>
          <p:cNvPr id="10" name="Text 8"/>
          <p:cNvSpPr/>
          <p:nvPr/>
        </p:nvSpPr>
        <p:spPr>
          <a:xfrm>
            <a:off x="6400800" y="1463040"/>
            <a:ext cx="2468880" cy="548640"/>
          </a:xfrm>
          <a:prstGeom prst="rect">
            <a:avLst/>
          </a:prstGeom>
          <a:noFill/>
          <a:ln/>
        </p:spPr>
        <p:txBody>
          <a:bodyPr wrap="square" lIns="0" tIns="0" rIns="0" bIns="0" rtlCol="0" anchor="ctr"/>
          <a:lstStyle/>
          <a:p>
            <a:pPr algn="ctr" indent="0" marL="0">
              <a:buNone/>
            </a:pPr>
            <a:r>
              <a:rPr lang="en-US" sz="4000" b="1" dirty="0">
                <a:solidFill>
                  <a:srgbClr val="667EEA"/>
                </a:solidFill>
                <a:latin typeface="Consolas" pitchFamily="34" charset="0"/>
                <a:ea typeface="Consolas" pitchFamily="34" charset="-122"/>
                <a:cs typeface="Consolas" pitchFamily="34" charset="-120"/>
              </a:rPr>
              <a:t>9</a:t>
            </a:r>
            <a:endParaRPr lang="en-US" sz="4000" dirty="0"/>
          </a:p>
        </p:txBody>
      </p:sp>
      <p:sp>
        <p:nvSpPr>
          <p:cNvPr id="11" name="Text 9"/>
          <p:cNvSpPr/>
          <p:nvPr/>
        </p:nvSpPr>
        <p:spPr>
          <a:xfrm>
            <a:off x="6400800" y="2057400"/>
            <a:ext cx="2468880" cy="45720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Golden Paths</a:t>
            </a:r>
            <a:endParaRPr lang="en-US" sz="1100" dirty="0"/>
          </a:p>
          <a:p>
            <a:pPr algn="ctr" indent="0" marL="0">
              <a:buNone/>
            </a:pPr>
            <a:r>
              <a:rPr lang="en-US" sz="1100" dirty="0">
                <a:solidFill>
                  <a:srgbClr val="CADCFC"/>
                </a:solidFill>
                <a:latin typeface="Calibri" pitchFamily="34" charset="0"/>
                <a:ea typeface="Calibri" pitchFamily="34" charset="-122"/>
                <a:cs typeface="Calibri" pitchFamily="34" charset="-120"/>
              </a:rPr>
              <a:t>(was 6)</a:t>
            </a:r>
            <a:endParaRPr lang="en-US" sz="1100" dirty="0"/>
          </a:p>
        </p:txBody>
      </p:sp>
      <p:sp>
        <p:nvSpPr>
          <p:cNvPr id="12" name="Shape 10"/>
          <p:cNvSpPr/>
          <p:nvPr/>
        </p:nvSpPr>
        <p:spPr>
          <a:xfrm>
            <a:off x="731520" y="2926080"/>
            <a:ext cx="2468880" cy="1371600"/>
          </a:xfrm>
          <a:prstGeom prst="rect">
            <a:avLst/>
          </a:prstGeom>
          <a:solidFill>
            <a:srgbClr val="0F172A"/>
          </a:solidFill>
          <a:ln/>
        </p:spPr>
      </p:sp>
      <p:sp>
        <p:nvSpPr>
          <p:cNvPr id="13" name="Text 11"/>
          <p:cNvSpPr/>
          <p:nvPr/>
        </p:nvSpPr>
        <p:spPr>
          <a:xfrm>
            <a:off x="731520" y="3108960"/>
            <a:ext cx="2468880" cy="548640"/>
          </a:xfrm>
          <a:prstGeom prst="rect">
            <a:avLst/>
          </a:prstGeom>
          <a:noFill/>
          <a:ln/>
        </p:spPr>
        <p:txBody>
          <a:bodyPr wrap="square" lIns="0" tIns="0" rIns="0" bIns="0" rtlCol="0" anchor="ctr"/>
          <a:lstStyle/>
          <a:p>
            <a:pPr algn="ctr" indent="0" marL="0">
              <a:buNone/>
            </a:pPr>
            <a:r>
              <a:rPr lang="en-US" sz="4000" b="1" dirty="0">
                <a:solidFill>
                  <a:srgbClr val="667EEA"/>
                </a:solidFill>
                <a:latin typeface="Consolas" pitchFamily="34" charset="0"/>
                <a:ea typeface="Consolas" pitchFamily="34" charset="-122"/>
                <a:cs typeface="Consolas" pitchFamily="34" charset="-120"/>
              </a:rPr>
              <a:t>307</a:t>
            </a:r>
            <a:endParaRPr lang="en-US" sz="4000" dirty="0"/>
          </a:p>
        </p:txBody>
      </p:sp>
      <p:sp>
        <p:nvSpPr>
          <p:cNvPr id="14" name="Text 12"/>
          <p:cNvSpPr/>
          <p:nvPr/>
        </p:nvSpPr>
        <p:spPr>
          <a:xfrm>
            <a:off x="731520" y="3703320"/>
            <a:ext cx="2468880" cy="45720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Unit Tests</a:t>
            </a:r>
            <a:endParaRPr lang="en-US" sz="1100" dirty="0"/>
          </a:p>
          <a:p>
            <a:pPr algn="ctr" indent="0" marL="0">
              <a:buNone/>
            </a:pPr>
            <a:r>
              <a:rPr lang="en-US" sz="1100" dirty="0">
                <a:solidFill>
                  <a:srgbClr val="CADCFC"/>
                </a:solidFill>
                <a:latin typeface="Calibri" pitchFamily="34" charset="0"/>
                <a:ea typeface="Calibri" pitchFamily="34" charset="-122"/>
                <a:cs typeface="Calibri" pitchFamily="34" charset="-120"/>
              </a:rPr>
              <a:t>All Passing</a:t>
            </a:r>
            <a:endParaRPr lang="en-US" sz="1100" dirty="0"/>
          </a:p>
        </p:txBody>
      </p:sp>
      <p:sp>
        <p:nvSpPr>
          <p:cNvPr id="15" name="Shape 13"/>
          <p:cNvSpPr/>
          <p:nvPr/>
        </p:nvSpPr>
        <p:spPr>
          <a:xfrm>
            <a:off x="3566160" y="2926080"/>
            <a:ext cx="2468880" cy="1371600"/>
          </a:xfrm>
          <a:prstGeom prst="rect">
            <a:avLst/>
          </a:prstGeom>
          <a:solidFill>
            <a:srgbClr val="0F172A"/>
          </a:solidFill>
          <a:ln/>
        </p:spPr>
      </p:sp>
      <p:sp>
        <p:nvSpPr>
          <p:cNvPr id="16" name="Text 14"/>
          <p:cNvSpPr/>
          <p:nvPr/>
        </p:nvSpPr>
        <p:spPr>
          <a:xfrm>
            <a:off x="3566160" y="3108960"/>
            <a:ext cx="2468880" cy="548640"/>
          </a:xfrm>
          <a:prstGeom prst="rect">
            <a:avLst/>
          </a:prstGeom>
          <a:noFill/>
          <a:ln/>
        </p:spPr>
        <p:txBody>
          <a:bodyPr wrap="square" lIns="0" tIns="0" rIns="0" bIns="0" rtlCol="0" anchor="ctr"/>
          <a:lstStyle/>
          <a:p>
            <a:pPr algn="ctr" indent="0" marL="0">
              <a:buNone/>
            </a:pPr>
            <a:r>
              <a:rPr lang="en-US" sz="4000" b="1" dirty="0">
                <a:solidFill>
                  <a:srgbClr val="667EEA"/>
                </a:solidFill>
                <a:latin typeface="Consolas" pitchFamily="34" charset="0"/>
                <a:ea typeface="Consolas" pitchFamily="34" charset="-122"/>
                <a:cs typeface="Consolas" pitchFamily="34" charset="-120"/>
              </a:rPr>
              <a:t>262</a:t>
            </a:r>
            <a:endParaRPr lang="en-US" sz="4000" dirty="0"/>
          </a:p>
        </p:txBody>
      </p:sp>
      <p:sp>
        <p:nvSpPr>
          <p:cNvPr id="17" name="Text 15"/>
          <p:cNvSpPr/>
          <p:nvPr/>
        </p:nvSpPr>
        <p:spPr>
          <a:xfrm>
            <a:off x="3566160" y="3703320"/>
            <a:ext cx="2468880" cy="45720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UI Tests</a:t>
            </a:r>
            <a:endParaRPr lang="en-US" sz="1100" dirty="0"/>
          </a:p>
          <a:p>
            <a:pPr algn="ctr" indent="0" marL="0">
              <a:buNone/>
            </a:pPr>
            <a:r>
              <a:rPr lang="en-US" sz="1100" dirty="0">
                <a:solidFill>
                  <a:srgbClr val="CADCFC"/>
                </a:solidFill>
                <a:latin typeface="Calibri" pitchFamily="34" charset="0"/>
                <a:ea typeface="Calibri" pitchFamily="34" charset="-122"/>
                <a:cs typeface="Calibri" pitchFamily="34" charset="-120"/>
              </a:rPr>
              <a:t>All Passing</a:t>
            </a:r>
            <a:endParaRPr lang="en-US" sz="1100" dirty="0"/>
          </a:p>
        </p:txBody>
      </p:sp>
      <p:sp>
        <p:nvSpPr>
          <p:cNvPr id="18" name="Shape 16"/>
          <p:cNvSpPr/>
          <p:nvPr/>
        </p:nvSpPr>
        <p:spPr>
          <a:xfrm>
            <a:off x="6400800" y="2926080"/>
            <a:ext cx="2468880" cy="1371600"/>
          </a:xfrm>
          <a:prstGeom prst="rect">
            <a:avLst/>
          </a:prstGeom>
          <a:solidFill>
            <a:srgbClr val="0F172A"/>
          </a:solidFill>
          <a:ln/>
        </p:spPr>
      </p:sp>
      <p:sp>
        <p:nvSpPr>
          <p:cNvPr id="19" name="Text 17"/>
          <p:cNvSpPr/>
          <p:nvPr/>
        </p:nvSpPr>
        <p:spPr>
          <a:xfrm>
            <a:off x="6400800" y="3108960"/>
            <a:ext cx="2468880" cy="548640"/>
          </a:xfrm>
          <a:prstGeom prst="rect">
            <a:avLst/>
          </a:prstGeom>
          <a:noFill/>
          <a:ln/>
        </p:spPr>
        <p:txBody>
          <a:bodyPr wrap="square" lIns="0" tIns="0" rIns="0" bIns="0" rtlCol="0" anchor="ctr"/>
          <a:lstStyle/>
          <a:p>
            <a:pPr algn="ctr" indent="0" marL="0">
              <a:buNone/>
            </a:pPr>
            <a:r>
              <a:rPr lang="en-US" sz="4000" b="1" dirty="0">
                <a:solidFill>
                  <a:srgbClr val="667EEA"/>
                </a:solidFill>
                <a:latin typeface="Consolas" pitchFamily="34" charset="0"/>
                <a:ea typeface="Consolas" pitchFamily="34" charset="-122"/>
                <a:cs typeface="Consolas" pitchFamily="34" charset="-120"/>
              </a:rPr>
              <a:t>0</a:t>
            </a:r>
            <a:endParaRPr lang="en-US" sz="4000" dirty="0"/>
          </a:p>
        </p:txBody>
      </p:sp>
      <p:sp>
        <p:nvSpPr>
          <p:cNvPr id="20" name="Text 18"/>
          <p:cNvSpPr/>
          <p:nvPr/>
        </p:nvSpPr>
        <p:spPr>
          <a:xfrm>
            <a:off x="6400800" y="3703320"/>
            <a:ext cx="2468880" cy="45720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Regressions</a:t>
            </a:r>
            <a:endParaRPr lang="en-US" sz="1100" dirty="0"/>
          </a:p>
          <a:p>
            <a:pPr algn="ctr" indent="0" marL="0">
              <a:buNone/>
            </a:pPr>
            <a:r>
              <a:rPr lang="en-US" sz="1100" dirty="0">
                <a:solidFill>
                  <a:srgbClr val="CADCFC"/>
                </a:solidFill>
                <a:latin typeface="Calibri" pitchFamily="34" charset="0"/>
                <a:ea typeface="Calibri" pitchFamily="34" charset="-122"/>
                <a:cs typeface="Calibri" pitchFamily="34" charset="-120"/>
              </a:rPr>
              <a:t>Introduced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lIns="0" tIns="0" rIns="0" bIns="0" rtlCol="0" anchor="ctr"/>
          <a:lstStyle/>
          <a:p>
            <a:pPr indent="0" marL="0">
              <a:buNone/>
            </a:pPr>
            <a:r>
              <a:rPr lang="en-US" sz="2800" b="1" dirty="0">
                <a:solidFill>
                  <a:srgbClr val="0F172A"/>
                </a:solidFill>
                <a:latin typeface="Georgia" pitchFamily="34" charset="0"/>
                <a:ea typeface="Georgia" pitchFamily="34" charset="-122"/>
                <a:cs typeface="Georgia" pitchFamily="34" charset="-120"/>
              </a:rPr>
              <a:t>Operational Next Steps</a:t>
            </a:r>
            <a:endParaRPr lang="en-US" sz="2800" dirty="0"/>
          </a:p>
        </p:txBody>
      </p:sp>
      <p:sp>
        <p:nvSpPr>
          <p:cNvPr id="3" name="Text 1"/>
          <p:cNvSpPr/>
          <p:nvPr/>
        </p:nvSpPr>
        <p:spPr>
          <a:xfrm>
            <a:off x="548640" y="1097280"/>
            <a:ext cx="3840480" cy="320040"/>
          </a:xfrm>
          <a:prstGeom prst="rect">
            <a:avLst/>
          </a:prstGeom>
          <a:noFill/>
          <a:ln/>
        </p:spPr>
        <p:txBody>
          <a:bodyPr wrap="square" lIns="0" tIns="0" rIns="0" bIns="0" rtlCol="0" anchor="ctr"/>
          <a:lstStyle/>
          <a:p>
            <a:pPr indent="0" marL="0">
              <a:buNone/>
            </a:pPr>
            <a:r>
              <a:rPr lang="en-US" sz="1400" b="1" dirty="0">
                <a:solidFill>
                  <a:srgbClr val="10B981"/>
                </a:solidFill>
                <a:latin typeface="Calibri" pitchFamily="34" charset="0"/>
                <a:ea typeface="Calibri" pitchFamily="34" charset="-122"/>
                <a:cs typeface="Calibri" pitchFamily="34" charset="-120"/>
              </a:rPr>
              <a:t>Ready to Deploy</a:t>
            </a:r>
            <a:endParaRPr lang="en-US" sz="1400" dirty="0"/>
          </a:p>
        </p:txBody>
      </p:sp>
      <p:sp>
        <p:nvSpPr>
          <p:cNvPr id="4" name="Text 2"/>
          <p:cNvSpPr/>
          <p:nvPr/>
        </p:nvSpPr>
        <p:spPr>
          <a:xfrm>
            <a:off x="548640" y="1463040"/>
            <a:ext cx="3840480" cy="320040"/>
          </a:xfrm>
          <a:prstGeom prst="rect">
            <a:avLst/>
          </a:prstGeom>
          <a:noFill/>
          <a:ln/>
        </p:spPr>
        <p:txBody>
          <a:bodyPr wrap="square" lIns="0" tIns="0" rIns="0" bIns="0" rtlCol="0" anchor="ctr"/>
          <a:lstStyle/>
          <a:p>
            <a:pPr marL="342900" indent="-342900">
              <a:buSzPct val="100000"/>
              <a:buChar char="•"/>
            </a:pPr>
            <a:r>
              <a:rPr lang="en-US" sz="1200" dirty="0">
                <a:solidFill>
                  <a:srgbClr val="0F172A"/>
                </a:solidFill>
                <a:latin typeface="Calibri" pitchFamily="34" charset="0"/>
                <a:ea typeface="Calibri" pitchFamily="34" charset="-122"/>
                <a:cs typeface="Calibri" pitchFamily="34" charset="-120"/>
              </a:rPr>
              <a:t>Railway services created — configure cron schedules in dashboard</a:t>
            </a:r>
            <a:endParaRPr lang="en-US" sz="1200" dirty="0"/>
          </a:p>
        </p:txBody>
      </p:sp>
      <p:sp>
        <p:nvSpPr>
          <p:cNvPr id="5" name="Text 3"/>
          <p:cNvSpPr/>
          <p:nvPr/>
        </p:nvSpPr>
        <p:spPr>
          <a:xfrm>
            <a:off x="548640" y="1828800"/>
            <a:ext cx="3840480" cy="320040"/>
          </a:xfrm>
          <a:prstGeom prst="rect">
            <a:avLst/>
          </a:prstGeom>
          <a:noFill/>
          <a:ln/>
        </p:spPr>
        <p:txBody>
          <a:bodyPr wrap="square" lIns="0" tIns="0" rIns="0" bIns="0" rtlCol="0" anchor="ctr"/>
          <a:lstStyle/>
          <a:p>
            <a:pPr marL="342900" indent="-342900">
              <a:buSzPct val="100000"/>
              <a:buChar char="•"/>
            </a:pPr>
            <a:r>
              <a:rPr lang="en-US" sz="1200" dirty="0">
                <a:solidFill>
                  <a:srgbClr val="0F172A"/>
                </a:solidFill>
                <a:latin typeface="Calibri" pitchFamily="34" charset="0"/>
                <a:ea typeface="Calibri" pitchFamily="34" charset="-122"/>
                <a:cs typeface="Calibri" pitchFamily="34" charset="-120"/>
              </a:rPr>
              <a:t>Run prisma migrate deploy for 2 pending migrations</a:t>
            </a:r>
            <a:endParaRPr lang="en-US" sz="1200" dirty="0"/>
          </a:p>
        </p:txBody>
      </p:sp>
      <p:sp>
        <p:nvSpPr>
          <p:cNvPr id="6" name="Text 4"/>
          <p:cNvSpPr/>
          <p:nvPr/>
        </p:nvSpPr>
        <p:spPr>
          <a:xfrm>
            <a:off x="548640" y="2194560"/>
            <a:ext cx="3840480" cy="320040"/>
          </a:xfrm>
          <a:prstGeom prst="rect">
            <a:avLst/>
          </a:prstGeom>
          <a:noFill/>
          <a:ln/>
        </p:spPr>
        <p:txBody>
          <a:bodyPr wrap="square" lIns="0" tIns="0" rIns="0" bIns="0" rtlCol="0" anchor="ctr"/>
          <a:lstStyle/>
          <a:p>
            <a:pPr marL="342900" indent="-342900">
              <a:buSzPct val="100000"/>
              <a:buChar char="•"/>
            </a:pPr>
            <a:r>
              <a:rPr lang="en-US" sz="1200" dirty="0">
                <a:solidFill>
                  <a:srgbClr val="0F172A"/>
                </a:solidFill>
                <a:latin typeface="Calibri" pitchFamily="34" charset="0"/>
                <a:ea typeface="Calibri" pitchFamily="34" charset="-122"/>
                <a:cs typeface="Calibri" pitchFamily="34" charset="-120"/>
              </a:rPr>
              <a:t>Agent manifest updated — 92 actions discoverable via MCP</a:t>
            </a:r>
            <a:endParaRPr lang="en-US" sz="1200" dirty="0"/>
          </a:p>
        </p:txBody>
      </p:sp>
      <p:sp>
        <p:nvSpPr>
          <p:cNvPr id="7" name="Text 5"/>
          <p:cNvSpPr/>
          <p:nvPr/>
        </p:nvSpPr>
        <p:spPr>
          <a:xfrm>
            <a:off x="4846320" y="1097280"/>
            <a:ext cx="3840480" cy="320040"/>
          </a:xfrm>
          <a:prstGeom prst="rect">
            <a:avLst/>
          </a:prstGeom>
          <a:noFill/>
          <a:ln/>
        </p:spPr>
        <p:txBody>
          <a:bodyPr wrap="square" lIns="0" tIns="0" rIns="0" bIns="0" rtlCol="0" anchor="ctr"/>
          <a:lstStyle/>
          <a:p>
            <a:pPr indent="0" marL="0">
              <a:buNone/>
            </a:pPr>
            <a:r>
              <a:rPr lang="en-US" sz="1400" b="1" dirty="0">
                <a:solidFill>
                  <a:srgbClr val="64748B"/>
                </a:solidFill>
                <a:latin typeface="Calibri" pitchFamily="34" charset="0"/>
                <a:ea typeface="Calibri" pitchFamily="34" charset="-122"/>
                <a:cs typeface="Calibri" pitchFamily="34" charset="-120"/>
              </a:rPr>
              <a:t>Explicitly Deferred</a:t>
            </a:r>
            <a:endParaRPr lang="en-US" sz="1400" dirty="0"/>
          </a:p>
        </p:txBody>
      </p:sp>
      <p:sp>
        <p:nvSpPr>
          <p:cNvPr id="8" name="Text 6"/>
          <p:cNvSpPr/>
          <p:nvPr/>
        </p:nvSpPr>
        <p:spPr>
          <a:xfrm>
            <a:off x="4846320" y="1463040"/>
            <a:ext cx="3840480" cy="320040"/>
          </a:xfrm>
          <a:prstGeom prst="rect">
            <a:avLst/>
          </a:prstGeom>
          <a:noFill/>
          <a:ln/>
        </p:spPr>
        <p:txBody>
          <a:bodyPr wrap="square" lIns="0" tIns="0" rIns="0" bIns="0"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Bi-directional calendar sync (Google/Outlook)</a:t>
            </a:r>
            <a:endParaRPr lang="en-US" sz="1200" dirty="0"/>
          </a:p>
        </p:txBody>
      </p:sp>
      <p:sp>
        <p:nvSpPr>
          <p:cNvPr id="9" name="Text 7"/>
          <p:cNvSpPr/>
          <p:nvPr/>
        </p:nvSpPr>
        <p:spPr>
          <a:xfrm>
            <a:off x="4846320" y="1828800"/>
            <a:ext cx="3840480" cy="320040"/>
          </a:xfrm>
          <a:prstGeom prst="rect">
            <a:avLst/>
          </a:prstGeom>
          <a:noFill/>
          <a:ln/>
        </p:spPr>
        <p:txBody>
          <a:bodyPr wrap="square" lIns="0" tIns="0" rIns="0" bIns="0"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Mail/messaging connectors (Slack, Teams)</a:t>
            </a:r>
            <a:endParaRPr lang="en-US" sz="1200" dirty="0"/>
          </a:p>
        </p:txBody>
      </p:sp>
      <p:sp>
        <p:nvSpPr>
          <p:cNvPr id="10" name="Text 8"/>
          <p:cNvSpPr/>
          <p:nvPr/>
        </p:nvSpPr>
        <p:spPr>
          <a:xfrm>
            <a:off x="4846320" y="2194560"/>
            <a:ext cx="3840480" cy="320040"/>
          </a:xfrm>
          <a:prstGeom prst="rect">
            <a:avLst/>
          </a:prstGeom>
          <a:noFill/>
          <a:ln/>
        </p:spPr>
        <p:txBody>
          <a:bodyPr wrap="square" lIns="0" tIns="0" rIns="0" bIns="0"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Client-side AI inference (WebAssembly)</a:t>
            </a:r>
            <a:endParaRPr lang="en-US" sz="1200" dirty="0"/>
          </a:p>
        </p:txBody>
      </p:sp>
      <p:sp>
        <p:nvSpPr>
          <p:cNvPr id="11" name="Text 9"/>
          <p:cNvSpPr/>
          <p:nvPr/>
        </p:nvSpPr>
        <p:spPr>
          <a:xfrm>
            <a:off x="4846320" y="2560320"/>
            <a:ext cx="3840480" cy="320040"/>
          </a:xfrm>
          <a:prstGeom prst="rect">
            <a:avLst/>
          </a:prstGeom>
          <a:noFill/>
          <a:ln/>
        </p:spPr>
        <p:txBody>
          <a:bodyPr wrap="square" lIns="0" tIns="0" rIns="0" bIns="0"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End-to-end encryption at rest</a:t>
            </a:r>
            <a:endParaRPr lang="en-US" sz="1200" dirty="0"/>
          </a:p>
        </p:txBody>
      </p:sp>
      <p:sp>
        <p:nvSpPr>
          <p:cNvPr id="12" name="Shape 10"/>
          <p:cNvSpPr/>
          <p:nvPr/>
        </p:nvSpPr>
        <p:spPr>
          <a:xfrm>
            <a:off x="548640" y="3291840"/>
            <a:ext cx="8046720" cy="1463040"/>
          </a:xfrm>
          <a:prstGeom prst="rect">
            <a:avLst/>
          </a:prstGeom>
          <a:solidFill>
            <a:srgbClr val="FFFFFF"/>
          </a:solidFill>
          <a:ln/>
          <a:effectLst>
            <a:outerShdw sx="100000" sy="100000" kx="0" ky="0" algn="bl" rotWithShape="0" blurRad="76200" dist="25400" dir="8100000">
              <a:srgbClr val="000000">
                <a:alpha val="10000"/>
              </a:srgbClr>
            </a:outerShdw>
          </a:effectLst>
        </p:spPr>
      </p:sp>
      <p:sp>
        <p:nvSpPr>
          <p:cNvPr id="13" name="Text 11"/>
          <p:cNvSpPr/>
          <p:nvPr/>
        </p:nvSpPr>
        <p:spPr>
          <a:xfrm>
            <a:off x="731520" y="3383280"/>
            <a:ext cx="7680960" cy="32004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Quality Assurance</a:t>
            </a:r>
            <a:endParaRPr lang="en-US" sz="1400" dirty="0"/>
          </a:p>
        </p:txBody>
      </p:sp>
      <p:sp>
        <p:nvSpPr>
          <p:cNvPr id="14" name="Text 12"/>
          <p:cNvSpPr/>
          <p:nvPr/>
        </p:nvSpPr>
        <p:spPr>
          <a:xfrm>
            <a:off x="731520" y="3749040"/>
            <a:ext cx="7680960" cy="82296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Every PR passed all CI gates: TypeScript typecheck, Prettier format, HTML/CSS lint, 307 unit tests, 262 UI tests (Playwright), Prisma integration tests, MCP contract tests, and Railway preview deploys. The H3 plan underwent 10 rounds of code review before execution, addressing 15 findings across action registration, MCP scopes, audit trails, routing order, and API surfaces.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Todos API — Strategic Gap Closure: H1 → H3</dc:title>
  <dc:subject>PptxGenJS Presentation</dc:subject>
  <dc:creator>Engineering</dc:creator>
  <cp:lastModifiedBy>Engineering</cp:lastModifiedBy>
  <cp:revision>1</cp:revision>
  <dcterms:created xsi:type="dcterms:W3CDTF">2026-03-28T15:27:16Z</dcterms:created>
  <dcterms:modified xsi:type="dcterms:W3CDTF">2026-03-28T15:27:16Z</dcterms:modified>
</cp:coreProperties>
</file>